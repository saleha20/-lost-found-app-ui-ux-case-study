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 id="2147483686"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85" r:id="rId14"/>
    <p:sldId id="286" r:id="rId15"/>
    <p:sldId id="269" r:id="rId16"/>
    <p:sldId id="281" r:id="rId17"/>
    <p:sldId id="282" r:id="rId18"/>
    <p:sldId id="270" r:id="rId19"/>
    <p:sldId id="271" r:id="rId20"/>
    <p:sldId id="272" r:id="rId21"/>
    <p:sldId id="273" r:id="rId22"/>
    <p:sldId id="275" r:id="rId23"/>
    <p:sldId id="283" r:id="rId24"/>
    <p:sldId id="284" r:id="rId25"/>
    <p:sldId id="276" r:id="rId26"/>
    <p:sldId id="277" r:id="rId27"/>
    <p:sldId id="278" r:id="rId28"/>
    <p:sldId id="279" r:id="rId29"/>
    <p:sldId id="280" r:id="rId30"/>
  </p:sldIdLst>
  <p:sldSz cx="9144000" cy="5143500" type="screen16x9"/>
  <p:notesSz cx="6858000" cy="9144000"/>
  <p:embeddedFontLst>
    <p:embeddedFont>
      <p:font typeface="Open Sans" panose="020B0604020202020204" charset="0"/>
      <p:regular r:id="rId32"/>
      <p:bold r:id="rId33"/>
      <p:italic r:id="rId34"/>
      <p:boldItalic r:id="rId35"/>
    </p:embeddedFont>
    <p:embeddedFont>
      <p:font typeface="Tahoma" panose="020B0604030504040204" pitchFamily="34" charset="0"/>
      <p:regular r:id="rId36"/>
      <p:bold r:id="rId37"/>
    </p:embeddedFont>
    <p:embeddedFont>
      <p:font typeface="Calibri" panose="020F0502020204030204" pitchFamily="34" charset="0"/>
      <p:regular r:id="rId38"/>
      <p:bold r:id="rId39"/>
      <p:italic r:id="rId40"/>
      <p:boldItalic r:id="rId41"/>
    </p:embeddedFont>
    <p:embeddedFont>
      <p:font typeface="Open Sans SemiBold" panose="020B0604020202020204" charset="0"/>
      <p:bold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726"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558026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059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d800de29cc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d800de29cc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4435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ced80ebc1c_1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ced80ebc1c_12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4654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ced80ebc1c_1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ced80ebc1c_12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812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cd03e5b752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cd03e5b752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2412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cd03e5b752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cd03e5b75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8578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cd03e5b752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cd03e5b752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879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ced80ebc1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ced80ebc1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7086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ced80ebc1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ced80ebc1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19420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cd03e5b752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cd03e5b752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3809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ced80ebc1c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ced80ebc1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667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ced80ebc1c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ced80ebc1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5605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d800de29cc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d800de29cc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48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cd03e5b752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cd03e5b752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18197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d800de29cc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d800de29cc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6909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d800de29cc_0_2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d800de29cc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1102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cd03e5b752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cd03e5b752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1961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cd03e5b752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cd03e5b752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2399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cd03e5b752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cd03e5b75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33706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cd03e5b752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cd03e5b752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8961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cd03e5b75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cd03e5b752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3932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ced80ebc1c_1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ced80ebc1c_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07128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3" name="Google Shape;13;p2"/>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1" name="Google Shape;4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4" name="Google Shape;4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5"/>
        <p:cNvGrpSpPr/>
        <p:nvPr/>
      </p:nvGrpSpPr>
      <p:grpSpPr>
        <a:xfrm>
          <a:off x="0" y="0"/>
          <a:ext cx="0" cy="0"/>
          <a:chOff x="0" y="0"/>
          <a:chExt cx="0" cy="0"/>
        </a:xfrm>
      </p:grpSpPr>
      <p:sp>
        <p:nvSpPr>
          <p:cNvPr id="46" name="Google Shape;46;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8" name="Google Shape;4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ue" type="blank">
  <p:cSld name="BLANK">
    <p:spTree>
      <p:nvGrpSpPr>
        <p:cNvPr id="1" name="Shape 49"/>
        <p:cNvGrpSpPr/>
        <p:nvPr/>
      </p:nvGrpSpPr>
      <p:grpSpPr>
        <a:xfrm>
          <a:off x="0" y="0"/>
          <a:ext cx="0" cy="0"/>
          <a:chOff x="0" y="0"/>
          <a:chExt cx="0" cy="0"/>
        </a:xfrm>
      </p:grpSpPr>
      <p:sp>
        <p:nvSpPr>
          <p:cNvPr id="50" name="Google Shape;50;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12"/>
          <p:cNvSpPr/>
          <p:nvPr/>
        </p:nvSpPr>
        <p:spPr>
          <a:xfrm>
            <a:off x="0" y="329125"/>
            <a:ext cx="69300" cy="753000"/>
          </a:xfrm>
          <a:prstGeom prst="rect">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 name="Google Shape;52;p12"/>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ed">
  <p:cSld name="BLANK_1">
    <p:spTree>
      <p:nvGrpSpPr>
        <p:cNvPr id="1" name="Shape 53"/>
        <p:cNvGrpSpPr/>
        <p:nvPr/>
      </p:nvGrpSpPr>
      <p:grpSpPr>
        <a:xfrm>
          <a:off x="0" y="0"/>
          <a:ext cx="0" cy="0"/>
          <a:chOff x="0" y="0"/>
          <a:chExt cx="0" cy="0"/>
        </a:xfrm>
      </p:grpSpPr>
      <p:sp>
        <p:nvSpPr>
          <p:cNvPr id="54" name="Google Shape;54;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13"/>
          <p:cNvSpPr/>
          <p:nvPr/>
        </p:nvSpPr>
        <p:spPr>
          <a:xfrm>
            <a:off x="0" y="329125"/>
            <a:ext cx="69300" cy="753000"/>
          </a:xfrm>
          <a:prstGeom prst="rect">
            <a:avLst/>
          </a:prstGeom>
          <a:solidFill>
            <a:srgbClr val="EA43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13"/>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ed 2">
  <p:cSld name="BLANK_1_2">
    <p:spTree>
      <p:nvGrpSpPr>
        <p:cNvPr id="1" name="Shape 57"/>
        <p:cNvGrpSpPr/>
        <p:nvPr/>
      </p:nvGrpSpPr>
      <p:grpSpPr>
        <a:xfrm>
          <a:off x="0" y="0"/>
          <a:ext cx="0" cy="0"/>
          <a:chOff x="0" y="0"/>
          <a:chExt cx="0" cy="0"/>
        </a:xfrm>
      </p:grpSpPr>
      <p:sp>
        <p:nvSpPr>
          <p:cNvPr id="58" name="Google Shape;58;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9" name="Google Shape;59;p14"/>
          <p:cNvSpPr/>
          <p:nvPr/>
        </p:nvSpPr>
        <p:spPr>
          <a:xfrm>
            <a:off x="0" y="329125"/>
            <a:ext cx="69300" cy="4485300"/>
          </a:xfrm>
          <a:prstGeom prst="rect">
            <a:avLst/>
          </a:prstGeom>
          <a:solidFill>
            <a:srgbClr val="EA43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 name="Google Shape;60;p14"/>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Yellow 2">
  <p:cSld name="BLANK_1_2_1">
    <p:spTree>
      <p:nvGrpSpPr>
        <p:cNvPr id="1" name="Shape 61"/>
        <p:cNvGrpSpPr/>
        <p:nvPr/>
      </p:nvGrpSpPr>
      <p:grpSpPr>
        <a:xfrm>
          <a:off x="0" y="0"/>
          <a:ext cx="0" cy="0"/>
          <a:chOff x="0" y="0"/>
          <a:chExt cx="0" cy="0"/>
        </a:xfrm>
      </p:grpSpPr>
      <p:sp>
        <p:nvSpPr>
          <p:cNvPr id="62" name="Google Shape;6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3" name="Google Shape;63;p15"/>
          <p:cNvSpPr/>
          <p:nvPr/>
        </p:nvSpPr>
        <p:spPr>
          <a:xfrm>
            <a:off x="0" y="329125"/>
            <a:ext cx="69300" cy="4485300"/>
          </a:xfrm>
          <a:prstGeom prst="rect">
            <a:avLst/>
          </a:prstGeom>
          <a:solidFill>
            <a:srgbClr val="FBBC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 name="Google Shape;64;p15"/>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reen 2">
  <p:cSld name="BLANK_1_2_1_1">
    <p:spTree>
      <p:nvGrpSpPr>
        <p:cNvPr id="1" name="Shape 65"/>
        <p:cNvGrpSpPr/>
        <p:nvPr/>
      </p:nvGrpSpPr>
      <p:grpSpPr>
        <a:xfrm>
          <a:off x="0" y="0"/>
          <a:ext cx="0" cy="0"/>
          <a:chOff x="0" y="0"/>
          <a:chExt cx="0" cy="0"/>
        </a:xfrm>
      </p:grpSpPr>
      <p:sp>
        <p:nvSpPr>
          <p:cNvPr id="66" name="Google Shape;6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7" name="Google Shape;67;p16"/>
          <p:cNvSpPr/>
          <p:nvPr/>
        </p:nvSpPr>
        <p:spPr>
          <a:xfrm>
            <a:off x="0" y="329125"/>
            <a:ext cx="69300" cy="4485300"/>
          </a:xfrm>
          <a:prstGeom prst="rect">
            <a:avLst/>
          </a:prstGeom>
          <a:solidFill>
            <a:srgbClr val="34A8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68;p16"/>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Yellow">
  <p:cSld name="BLANK_1_1">
    <p:spTree>
      <p:nvGrpSpPr>
        <p:cNvPr id="1" name="Shape 69"/>
        <p:cNvGrpSpPr/>
        <p:nvPr/>
      </p:nvGrpSpPr>
      <p:grpSpPr>
        <a:xfrm>
          <a:off x="0" y="0"/>
          <a:ext cx="0" cy="0"/>
          <a:chOff x="0" y="0"/>
          <a:chExt cx="0" cy="0"/>
        </a:xfrm>
      </p:grpSpPr>
      <p:sp>
        <p:nvSpPr>
          <p:cNvPr id="70" name="Google Shape;7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7"/>
          <p:cNvSpPr/>
          <p:nvPr/>
        </p:nvSpPr>
        <p:spPr>
          <a:xfrm>
            <a:off x="0" y="329125"/>
            <a:ext cx="69300" cy="753000"/>
          </a:xfrm>
          <a:prstGeom prst="rect">
            <a:avLst/>
          </a:prstGeom>
          <a:solidFill>
            <a:srgbClr val="FBBC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17"/>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een">
  <p:cSld name="BLANK_1_1_1">
    <p:spTree>
      <p:nvGrpSpPr>
        <p:cNvPr id="1" name="Shape 73"/>
        <p:cNvGrpSpPr/>
        <p:nvPr/>
      </p:nvGrpSpPr>
      <p:grpSpPr>
        <a:xfrm>
          <a:off x="0" y="0"/>
          <a:ext cx="0" cy="0"/>
          <a:chOff x="0" y="0"/>
          <a:chExt cx="0" cy="0"/>
        </a:xfrm>
      </p:grpSpPr>
      <p:sp>
        <p:nvSpPr>
          <p:cNvPr id="74" name="Google Shape;74;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5" name="Google Shape;75;p18"/>
          <p:cNvSpPr/>
          <p:nvPr/>
        </p:nvSpPr>
        <p:spPr>
          <a:xfrm>
            <a:off x="0" y="329125"/>
            <a:ext cx="69300" cy="753000"/>
          </a:xfrm>
          <a:prstGeom prst="rect">
            <a:avLst/>
          </a:prstGeom>
          <a:solidFill>
            <a:srgbClr val="34A8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 name="Google Shape;76;p18"/>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y">
  <p:cSld name="BLANK_1_1_1_1">
    <p:spTree>
      <p:nvGrpSpPr>
        <p:cNvPr id="1" name="Shape 77"/>
        <p:cNvGrpSpPr/>
        <p:nvPr/>
      </p:nvGrpSpPr>
      <p:grpSpPr>
        <a:xfrm>
          <a:off x="0" y="0"/>
          <a:ext cx="0" cy="0"/>
          <a:chOff x="0" y="0"/>
          <a:chExt cx="0" cy="0"/>
        </a:xfrm>
      </p:grpSpPr>
      <p:sp>
        <p:nvSpPr>
          <p:cNvPr id="78" name="Google Shape;78;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9" name="Google Shape;79;p19"/>
          <p:cNvSpPr/>
          <p:nvPr/>
        </p:nvSpPr>
        <p:spPr>
          <a:xfrm>
            <a:off x="0" y="329125"/>
            <a:ext cx="69300" cy="753000"/>
          </a:xfrm>
          <a:prstGeom prst="rect">
            <a:avLst/>
          </a:prstGeom>
          <a:solidFill>
            <a:srgbClr val="9AA0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19"/>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5"/>
        <p:cNvGrpSpPr/>
        <p:nvPr/>
      </p:nvGrpSpPr>
      <p:grpSpPr>
        <a:xfrm>
          <a:off x="0" y="0"/>
          <a:ext cx="0" cy="0"/>
          <a:chOff x="0" y="0"/>
          <a:chExt cx="0" cy="0"/>
        </a:xfrm>
      </p:grpSpPr>
      <p:sp>
        <p:nvSpPr>
          <p:cNvPr id="86" name="Google Shape;86;p2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87" name="Google Shape;87;p2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8"/>
        <p:cNvGrpSpPr/>
        <p:nvPr/>
      </p:nvGrpSpPr>
      <p:grpSpPr>
        <a:xfrm>
          <a:off x="0" y="0"/>
          <a:ext cx="0" cy="0"/>
          <a:chOff x="0" y="0"/>
          <a:chExt cx="0" cy="0"/>
        </a:xfrm>
      </p:grpSpPr>
      <p:sp>
        <p:nvSpPr>
          <p:cNvPr id="89" name="Google Shape;89;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90" name="Google Shape;9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1"/>
        <p:cNvGrpSpPr/>
        <p:nvPr/>
      </p:nvGrpSpPr>
      <p:grpSpPr>
        <a:xfrm>
          <a:off x="0" y="0"/>
          <a:ext cx="0" cy="0"/>
          <a:chOff x="0" y="0"/>
          <a:chExt cx="0" cy="0"/>
        </a:xfrm>
      </p:grpSpPr>
      <p:sp>
        <p:nvSpPr>
          <p:cNvPr id="92" name="Google Shape;9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3" name="Google Shape;93;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4" name="Google Shape;9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5"/>
        <p:cNvGrpSpPr/>
        <p:nvPr/>
      </p:nvGrpSpPr>
      <p:grpSpPr>
        <a:xfrm>
          <a:off x="0" y="0"/>
          <a:ext cx="0" cy="0"/>
          <a:chOff x="0" y="0"/>
          <a:chExt cx="0" cy="0"/>
        </a:xfrm>
      </p:grpSpPr>
      <p:sp>
        <p:nvSpPr>
          <p:cNvPr id="96" name="Google Shape;96;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7" name="Google Shape;97;p2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8" name="Google Shape;98;p2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9" name="Google Shape;99;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2" name="Google Shape;102;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2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2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06" name="Google Shape;10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7"/>
        <p:cNvGrpSpPr/>
        <p:nvPr/>
      </p:nvGrpSpPr>
      <p:grpSpPr>
        <a:xfrm>
          <a:off x="0" y="0"/>
          <a:ext cx="0" cy="0"/>
          <a:chOff x="0" y="0"/>
          <a:chExt cx="0" cy="0"/>
        </a:xfrm>
      </p:grpSpPr>
      <p:sp>
        <p:nvSpPr>
          <p:cNvPr id="108" name="Google Shape;108;p2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09" name="Google Shape;10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10"/>
        <p:cNvGrpSpPr/>
        <p:nvPr/>
      </p:nvGrpSpPr>
      <p:grpSpPr>
        <a:xfrm>
          <a:off x="0" y="0"/>
          <a:ext cx="0" cy="0"/>
          <a:chOff x="0" y="0"/>
          <a:chExt cx="0" cy="0"/>
        </a:xfrm>
      </p:grpSpPr>
      <p:sp>
        <p:nvSpPr>
          <p:cNvPr id="111" name="Google Shape;111;p2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3" name="Google Shape;113;p2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4" name="Google Shape;114;p2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15" name="Google Shape;115;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6"/>
        <p:cNvGrpSpPr/>
        <p:nvPr/>
      </p:nvGrpSpPr>
      <p:grpSpPr>
        <a:xfrm>
          <a:off x="0" y="0"/>
          <a:ext cx="0" cy="0"/>
          <a:chOff x="0" y="0"/>
          <a:chExt cx="0" cy="0"/>
        </a:xfrm>
      </p:grpSpPr>
      <p:sp>
        <p:nvSpPr>
          <p:cNvPr id="117" name="Google Shape;117;p2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18" name="Google Shape;11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9"/>
        <p:cNvGrpSpPr/>
        <p:nvPr/>
      </p:nvGrpSpPr>
      <p:grpSpPr>
        <a:xfrm>
          <a:off x="0" y="0"/>
          <a:ext cx="0" cy="0"/>
          <a:chOff x="0" y="0"/>
          <a:chExt cx="0" cy="0"/>
        </a:xfrm>
      </p:grpSpPr>
      <p:sp>
        <p:nvSpPr>
          <p:cNvPr id="120" name="Google Shape;120;p3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21" name="Google Shape;121;p3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122" name="Google Shape;122;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ue" type="blank">
  <p:cSld name="BLANK">
    <p:spTree>
      <p:nvGrpSpPr>
        <p:cNvPr id="1" name="Shape 123"/>
        <p:cNvGrpSpPr/>
        <p:nvPr/>
      </p:nvGrpSpPr>
      <p:grpSpPr>
        <a:xfrm>
          <a:off x="0" y="0"/>
          <a:ext cx="0" cy="0"/>
          <a:chOff x="0" y="0"/>
          <a:chExt cx="0" cy="0"/>
        </a:xfrm>
      </p:grpSpPr>
      <p:sp>
        <p:nvSpPr>
          <p:cNvPr id="124" name="Google Shape;124;p31"/>
          <p:cNvSpPr/>
          <p:nvPr/>
        </p:nvSpPr>
        <p:spPr>
          <a:xfrm>
            <a:off x="0" y="329125"/>
            <a:ext cx="69300" cy="753000"/>
          </a:xfrm>
          <a:prstGeom prst="rect">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31"/>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ed">
  <p:cSld name="BLANK_1">
    <p:spTree>
      <p:nvGrpSpPr>
        <p:cNvPr id="1" name="Shape 126"/>
        <p:cNvGrpSpPr/>
        <p:nvPr/>
      </p:nvGrpSpPr>
      <p:grpSpPr>
        <a:xfrm>
          <a:off x="0" y="0"/>
          <a:ext cx="0" cy="0"/>
          <a:chOff x="0" y="0"/>
          <a:chExt cx="0" cy="0"/>
        </a:xfrm>
      </p:grpSpPr>
      <p:sp>
        <p:nvSpPr>
          <p:cNvPr id="127" name="Google Shape;127;p32"/>
          <p:cNvSpPr/>
          <p:nvPr/>
        </p:nvSpPr>
        <p:spPr>
          <a:xfrm>
            <a:off x="0" y="329125"/>
            <a:ext cx="69300" cy="753000"/>
          </a:xfrm>
          <a:prstGeom prst="rect">
            <a:avLst/>
          </a:prstGeom>
          <a:solidFill>
            <a:srgbClr val="EA43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8" name="Google Shape;128;p32"/>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Red 2">
  <p:cSld name="BLANK_1_2">
    <p:spTree>
      <p:nvGrpSpPr>
        <p:cNvPr id="1" name="Shape 129"/>
        <p:cNvGrpSpPr/>
        <p:nvPr/>
      </p:nvGrpSpPr>
      <p:grpSpPr>
        <a:xfrm>
          <a:off x="0" y="0"/>
          <a:ext cx="0" cy="0"/>
          <a:chOff x="0" y="0"/>
          <a:chExt cx="0" cy="0"/>
        </a:xfrm>
      </p:grpSpPr>
      <p:sp>
        <p:nvSpPr>
          <p:cNvPr id="130" name="Google Shape;130;p33"/>
          <p:cNvSpPr/>
          <p:nvPr/>
        </p:nvSpPr>
        <p:spPr>
          <a:xfrm>
            <a:off x="0" y="329125"/>
            <a:ext cx="69300" cy="4485300"/>
          </a:xfrm>
          <a:prstGeom prst="rect">
            <a:avLst/>
          </a:prstGeom>
          <a:solidFill>
            <a:srgbClr val="EA43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1" name="Google Shape;131;p33"/>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Yellow 2">
  <p:cSld name="BLANK_1_2_1">
    <p:spTree>
      <p:nvGrpSpPr>
        <p:cNvPr id="1" name="Shape 132"/>
        <p:cNvGrpSpPr/>
        <p:nvPr/>
      </p:nvGrpSpPr>
      <p:grpSpPr>
        <a:xfrm>
          <a:off x="0" y="0"/>
          <a:ext cx="0" cy="0"/>
          <a:chOff x="0" y="0"/>
          <a:chExt cx="0" cy="0"/>
        </a:xfrm>
      </p:grpSpPr>
      <p:sp>
        <p:nvSpPr>
          <p:cNvPr id="133" name="Google Shape;133;p34"/>
          <p:cNvSpPr/>
          <p:nvPr/>
        </p:nvSpPr>
        <p:spPr>
          <a:xfrm>
            <a:off x="0" y="329125"/>
            <a:ext cx="69300" cy="4485300"/>
          </a:xfrm>
          <a:prstGeom prst="rect">
            <a:avLst/>
          </a:prstGeom>
          <a:solidFill>
            <a:srgbClr val="FBBC0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4" name="Google Shape;134;p34"/>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een 2">
  <p:cSld name="BLANK_1_2_1_1">
    <p:spTree>
      <p:nvGrpSpPr>
        <p:cNvPr id="1" name="Shape 135"/>
        <p:cNvGrpSpPr/>
        <p:nvPr/>
      </p:nvGrpSpPr>
      <p:grpSpPr>
        <a:xfrm>
          <a:off x="0" y="0"/>
          <a:ext cx="0" cy="0"/>
          <a:chOff x="0" y="0"/>
          <a:chExt cx="0" cy="0"/>
        </a:xfrm>
      </p:grpSpPr>
      <p:sp>
        <p:nvSpPr>
          <p:cNvPr id="136" name="Google Shape;136;p35"/>
          <p:cNvSpPr/>
          <p:nvPr/>
        </p:nvSpPr>
        <p:spPr>
          <a:xfrm>
            <a:off x="0" y="329125"/>
            <a:ext cx="69300" cy="4485300"/>
          </a:xfrm>
          <a:prstGeom prst="rect">
            <a:avLst/>
          </a:prstGeom>
          <a:solidFill>
            <a:srgbClr val="34A8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7" name="Google Shape;137;p35"/>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Yellow">
  <p:cSld name="BLANK_1_1">
    <p:spTree>
      <p:nvGrpSpPr>
        <p:cNvPr id="1" name="Shape 138"/>
        <p:cNvGrpSpPr/>
        <p:nvPr/>
      </p:nvGrpSpPr>
      <p:grpSpPr>
        <a:xfrm>
          <a:off x="0" y="0"/>
          <a:ext cx="0" cy="0"/>
          <a:chOff x="0" y="0"/>
          <a:chExt cx="0" cy="0"/>
        </a:xfrm>
      </p:grpSpPr>
      <p:sp>
        <p:nvSpPr>
          <p:cNvPr id="139" name="Google Shape;139;p36"/>
          <p:cNvSpPr/>
          <p:nvPr/>
        </p:nvSpPr>
        <p:spPr>
          <a:xfrm>
            <a:off x="0" y="329125"/>
            <a:ext cx="69300" cy="753000"/>
          </a:xfrm>
          <a:prstGeom prst="rect">
            <a:avLst/>
          </a:prstGeom>
          <a:solidFill>
            <a:srgbClr val="F2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0" name="Google Shape;140;p36"/>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reen">
  <p:cSld name="BLANK_1_1_1">
    <p:spTree>
      <p:nvGrpSpPr>
        <p:cNvPr id="1" name="Shape 141"/>
        <p:cNvGrpSpPr/>
        <p:nvPr/>
      </p:nvGrpSpPr>
      <p:grpSpPr>
        <a:xfrm>
          <a:off x="0" y="0"/>
          <a:ext cx="0" cy="0"/>
          <a:chOff x="0" y="0"/>
          <a:chExt cx="0" cy="0"/>
        </a:xfrm>
      </p:grpSpPr>
      <p:sp>
        <p:nvSpPr>
          <p:cNvPr id="142" name="Google Shape;142;p37"/>
          <p:cNvSpPr/>
          <p:nvPr/>
        </p:nvSpPr>
        <p:spPr>
          <a:xfrm>
            <a:off x="0" y="329125"/>
            <a:ext cx="69300" cy="753000"/>
          </a:xfrm>
          <a:prstGeom prst="rect">
            <a:avLst/>
          </a:prstGeom>
          <a:solidFill>
            <a:srgbClr val="34A8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3" name="Google Shape;143;p37"/>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Gray">
  <p:cSld name="BLANK_1_1_1_1">
    <p:spTree>
      <p:nvGrpSpPr>
        <p:cNvPr id="1" name="Shape 144"/>
        <p:cNvGrpSpPr/>
        <p:nvPr/>
      </p:nvGrpSpPr>
      <p:grpSpPr>
        <a:xfrm>
          <a:off x="0" y="0"/>
          <a:ext cx="0" cy="0"/>
          <a:chOff x="0" y="0"/>
          <a:chExt cx="0" cy="0"/>
        </a:xfrm>
      </p:grpSpPr>
      <p:sp>
        <p:nvSpPr>
          <p:cNvPr id="145" name="Google Shape;145;p38"/>
          <p:cNvSpPr/>
          <p:nvPr/>
        </p:nvSpPr>
        <p:spPr>
          <a:xfrm>
            <a:off x="0" y="329125"/>
            <a:ext cx="69300" cy="753000"/>
          </a:xfrm>
          <a:prstGeom prst="rect">
            <a:avLst/>
          </a:prstGeom>
          <a:solidFill>
            <a:srgbClr val="9AA0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6" name="Google Shape;146;p38"/>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47"/>
        <p:cNvGrpSpPr/>
        <p:nvPr/>
      </p:nvGrpSpPr>
      <p:grpSpPr>
        <a:xfrm>
          <a:off x="0" y="0"/>
          <a:ext cx="0" cy="0"/>
          <a:chOff x="0" y="0"/>
          <a:chExt cx="0" cy="0"/>
        </a:xfrm>
      </p:grpSpPr>
      <p:pic>
        <p:nvPicPr>
          <p:cNvPr id="148" name="Google Shape;148;p39"/>
          <p:cNvPicPr preferRelativeResize="0"/>
          <p:nvPr/>
        </p:nvPicPr>
        <p:blipFill>
          <a:blip r:embed="rId2">
            <a:alphaModFix/>
          </a:blip>
          <a:stretch>
            <a:fillRect/>
          </a:stretch>
        </p:blipFill>
        <p:spPr>
          <a:xfrm>
            <a:off x="8421700" y="4841325"/>
            <a:ext cx="464875" cy="1566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image" Target="../media/image3.png"/><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3" name="Google Shape;83;p2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pic>
        <p:nvPicPr>
          <p:cNvPr id="84" name="Google Shape;84;p20"/>
          <p:cNvPicPr preferRelativeResize="0"/>
          <p:nvPr/>
        </p:nvPicPr>
        <p:blipFill>
          <a:blip r:embed="rId21">
            <a:alphaModFix/>
          </a:blip>
          <a:stretch>
            <a:fillRect/>
          </a:stretch>
        </p:blipFill>
        <p:spPr>
          <a:xfrm>
            <a:off x="8421698" y="4841325"/>
            <a:ext cx="464876" cy="15299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 id="2147483684"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2.xml"/><Relationship Id="rId1" Type="http://schemas.openxmlformats.org/officeDocument/2006/relationships/slideLayout" Target="../slideLayouts/slideLayout29.xml"/><Relationship Id="rId4" Type="http://schemas.openxmlformats.org/officeDocument/2006/relationships/image" Target="../media/image6.tm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16.xml"/><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6.xml"/><Relationship Id="rId5" Type="http://schemas.openxmlformats.org/officeDocument/2006/relationships/image" Target="../media/image15.jpeg"/><Relationship Id="rId4"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6.xml"/><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hyperlink" Target="https://www.figma.com/design/1cwamnj4WCgFwjFPlwiT9p/HCI_Assigmnet05?node-id=0-1&amp;t=GdCGOHp1o8c2Xxuj-1" TargetMode="External"/><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6.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hyperlink" Target="https://www.figma.com/design/1cwamnj4WCgFwjFPlwiT9p/HCI_Assigmnet05?node-id=54637-402&amp;t=GdCGOHp1o8c2Xxuj-1" TargetMode="External"/><Relationship Id="rId2" Type="http://schemas.openxmlformats.org/officeDocument/2006/relationships/notesSlide" Target="../notesSlides/notesSlide17.xml"/><Relationship Id="rId1" Type="http://schemas.openxmlformats.org/officeDocument/2006/relationships/slideLayout" Target="../slideLayouts/slideLayout1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285F4"/>
        </a:solidFill>
        <a:effectLst/>
      </p:bgPr>
    </p:bg>
    <p:spTree>
      <p:nvGrpSpPr>
        <p:cNvPr id="1" name="Shape 152"/>
        <p:cNvGrpSpPr/>
        <p:nvPr/>
      </p:nvGrpSpPr>
      <p:grpSpPr>
        <a:xfrm>
          <a:off x="0" y="0"/>
          <a:ext cx="0" cy="0"/>
          <a:chOff x="0" y="0"/>
          <a:chExt cx="0" cy="0"/>
        </a:xfrm>
      </p:grpSpPr>
      <p:sp>
        <p:nvSpPr>
          <p:cNvPr id="153" name="Google Shape;153;p40"/>
          <p:cNvSpPr txBox="1"/>
          <p:nvPr/>
        </p:nvSpPr>
        <p:spPr>
          <a:xfrm>
            <a:off x="517674" y="1819738"/>
            <a:ext cx="6113713" cy="738633"/>
          </a:xfrm>
          <a:prstGeom prst="rect">
            <a:avLst/>
          </a:prstGeom>
          <a:noFill/>
          <a:ln>
            <a:noFill/>
          </a:ln>
        </p:spPr>
        <p:txBody>
          <a:bodyPr spcFirstLastPara="1" wrap="square" lIns="0" tIns="91425" rIns="91425" bIns="91425" anchor="t" anchorCtr="0">
            <a:spAutoFit/>
          </a:bodyPr>
          <a:lstStyle/>
          <a:p>
            <a:pPr lvl="0"/>
            <a:r>
              <a:rPr lang="en-US" sz="3600" dirty="0">
                <a:solidFill>
                  <a:schemeClr val="bg1"/>
                </a:solidFill>
              </a:rPr>
              <a:t>Smart Lost &amp; Found System</a:t>
            </a:r>
            <a:endParaRPr sz="3600" dirty="0">
              <a:solidFill>
                <a:schemeClr val="bg1"/>
              </a:solidFill>
              <a:latin typeface="Open Sans SemiBold"/>
              <a:ea typeface="Open Sans SemiBold"/>
              <a:cs typeface="Open Sans SemiBold"/>
              <a:sym typeface="Open Sans SemiBold"/>
            </a:endParaRPr>
          </a:p>
        </p:txBody>
      </p:sp>
      <p:sp>
        <p:nvSpPr>
          <p:cNvPr id="154" name="Google Shape;154;p40"/>
          <p:cNvSpPr txBox="1"/>
          <p:nvPr/>
        </p:nvSpPr>
        <p:spPr>
          <a:xfrm>
            <a:off x="517675" y="2769663"/>
            <a:ext cx="4931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FFFFFF"/>
                </a:solidFill>
                <a:latin typeface="Open Sans"/>
                <a:ea typeface="Open Sans"/>
                <a:cs typeface="Open Sans"/>
                <a:sym typeface="Open Sans"/>
              </a:rPr>
              <a:t>Saleha Tariq</a:t>
            </a:r>
            <a:endParaRPr sz="2400" dirty="0">
              <a:solidFill>
                <a:srgbClr val="FFFFFF"/>
              </a:solidFill>
              <a:latin typeface="Open Sans"/>
              <a:ea typeface="Open Sans"/>
              <a:cs typeface="Open Sans"/>
              <a:sym typeface="Open Sans"/>
            </a:endParaRPr>
          </a:p>
        </p:txBody>
      </p:sp>
      <p:cxnSp>
        <p:nvCxnSpPr>
          <p:cNvPr id="155" name="Google Shape;155;p40"/>
          <p:cNvCxnSpPr/>
          <p:nvPr/>
        </p:nvCxnSpPr>
        <p:spPr>
          <a:xfrm rot="10800000">
            <a:off x="517650" y="2670825"/>
            <a:ext cx="5808000" cy="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2" name="Google Shape;162;p41"/>
          <p:cNvSpPr txBox="1"/>
          <p:nvPr/>
        </p:nvSpPr>
        <p:spPr>
          <a:xfrm>
            <a:off x="1231075" y="1406440"/>
            <a:ext cx="3646200" cy="2169794"/>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4285F4"/>
                </a:solidFill>
                <a:latin typeface="Open Sans SemiBold"/>
                <a:ea typeface="Open Sans SemiBold"/>
                <a:cs typeface="Open Sans SemiBold"/>
                <a:sym typeface="Open Sans SemiBold"/>
              </a:rPr>
              <a:t>The product: </a:t>
            </a:r>
            <a:endParaRPr dirty="0">
              <a:solidFill>
                <a:srgbClr val="4285F4"/>
              </a:solidFill>
              <a:latin typeface="Open Sans SemiBold"/>
              <a:ea typeface="Open Sans SemiBold"/>
              <a:cs typeface="Open Sans SemiBold"/>
              <a:sym typeface="Open Sans SemiBold"/>
            </a:endParaRPr>
          </a:p>
          <a:p>
            <a:pPr lvl="0" algn="just">
              <a:lnSpc>
                <a:spcPct val="150000"/>
              </a:lnSpc>
              <a:buClr>
                <a:schemeClr val="dk1"/>
              </a:buClr>
              <a:buSzPts val="1100"/>
            </a:pPr>
            <a:r>
              <a:rPr lang="en-US" sz="1200" dirty="0"/>
              <a:t>The Smart Lost &amp; Found System is a web-based application that helps users report lost and found items and recover them efficiently. It connects users with administrators through a centralized platform that manages item tracking, matching, and claim verification.</a:t>
            </a:r>
            <a:endParaRPr sz="1200" b="1" dirty="0">
              <a:solidFill>
                <a:srgbClr val="1967D2"/>
              </a:solidFill>
              <a:latin typeface="Open Sans"/>
              <a:ea typeface="Open Sans"/>
              <a:cs typeface="Open Sans"/>
              <a:sym typeface="Open Sans"/>
            </a:endParaRPr>
          </a:p>
        </p:txBody>
      </p:sp>
      <p:sp>
        <p:nvSpPr>
          <p:cNvPr id="163" name="Google Shape;163;p41"/>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5F6368"/>
                </a:solidFill>
                <a:latin typeface="Open Sans"/>
                <a:ea typeface="Open Sans"/>
                <a:cs typeface="Open Sans"/>
                <a:sym typeface="Open Sans"/>
              </a:rPr>
              <a:t>Project overview</a:t>
            </a:r>
            <a:endParaRPr sz="2400" dirty="0">
              <a:solidFill>
                <a:srgbClr val="5F6368"/>
              </a:solidFill>
              <a:latin typeface="Open Sans"/>
              <a:ea typeface="Open Sans"/>
              <a:cs typeface="Open Sans"/>
              <a:sym typeface="Open Sans"/>
            </a:endParaRPr>
          </a:p>
        </p:txBody>
      </p:sp>
      <p:sp>
        <p:nvSpPr>
          <p:cNvPr id="164" name="Google Shape;164;p41"/>
          <p:cNvSpPr/>
          <p:nvPr/>
        </p:nvSpPr>
        <p:spPr>
          <a:xfrm>
            <a:off x="517675" y="1457215"/>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1"/>
          <p:cNvSpPr txBox="1"/>
          <p:nvPr/>
        </p:nvSpPr>
        <p:spPr>
          <a:xfrm>
            <a:off x="1215208" y="3511824"/>
            <a:ext cx="3446100" cy="784800"/>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dirty="0">
                <a:solidFill>
                  <a:srgbClr val="4285F4"/>
                </a:solidFill>
                <a:latin typeface="Open Sans SemiBold"/>
                <a:ea typeface="Open Sans SemiBold"/>
                <a:cs typeface="Open Sans SemiBold"/>
                <a:sym typeface="Open Sans SemiBold"/>
              </a:rPr>
              <a:t>Project duration:</a:t>
            </a:r>
            <a:endParaRPr dirty="0">
              <a:solidFill>
                <a:srgbClr val="1967D2"/>
              </a:solidFill>
              <a:latin typeface="Open Sans SemiBold"/>
              <a:ea typeface="Open Sans SemiBold"/>
              <a:cs typeface="Open Sans SemiBold"/>
              <a:sym typeface="Open Sans SemiBold"/>
            </a:endParaRPr>
          </a:p>
          <a:p>
            <a:pPr lvl="0">
              <a:lnSpc>
                <a:spcPct val="150000"/>
              </a:lnSpc>
              <a:buClr>
                <a:schemeClr val="dk1"/>
              </a:buClr>
              <a:buSzPts val="1100"/>
            </a:pPr>
            <a:r>
              <a:rPr lang="en-US" sz="1200" dirty="0"/>
              <a:t>27 April 2026  – 18 May 2026</a:t>
            </a:r>
            <a:endParaRPr sz="1200" b="1" dirty="0">
              <a:solidFill>
                <a:srgbClr val="4285F4"/>
              </a:solidFill>
              <a:latin typeface="Open Sans"/>
              <a:ea typeface="Open Sans"/>
              <a:cs typeface="Open Sans"/>
              <a:sym typeface="Open Sans"/>
            </a:endParaRPr>
          </a:p>
        </p:txBody>
      </p:sp>
      <p:sp>
        <p:nvSpPr>
          <p:cNvPr id="166" name="Google Shape;166;p41"/>
          <p:cNvSpPr/>
          <p:nvPr/>
        </p:nvSpPr>
        <p:spPr>
          <a:xfrm>
            <a:off x="517675" y="3564831"/>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1"/>
          <p:cNvSpPr/>
          <p:nvPr/>
        </p:nvSpPr>
        <p:spPr>
          <a:xfrm>
            <a:off x="643387" y="3691080"/>
            <a:ext cx="261874" cy="260801"/>
          </a:xfrm>
          <a:custGeom>
            <a:avLst/>
            <a:gdLst/>
            <a:ahLst/>
            <a:cxnLst/>
            <a:rect l="l" t="t" r="r" b="b"/>
            <a:pathLst>
              <a:path w="1048" h="1045" extrusionOk="0">
                <a:moveTo>
                  <a:pt x="522" y="0"/>
                </a:moveTo>
                <a:cubicBezTo>
                  <a:pt x="234" y="0"/>
                  <a:pt x="0" y="234"/>
                  <a:pt x="0" y="522"/>
                </a:cubicBezTo>
                <a:cubicBezTo>
                  <a:pt x="0" y="810"/>
                  <a:pt x="234" y="1044"/>
                  <a:pt x="522" y="1044"/>
                </a:cubicBezTo>
                <a:cubicBezTo>
                  <a:pt x="810" y="1044"/>
                  <a:pt x="1044" y="810"/>
                  <a:pt x="1044" y="522"/>
                </a:cubicBezTo>
                <a:cubicBezTo>
                  <a:pt x="1047" y="234"/>
                  <a:pt x="812" y="0"/>
                  <a:pt x="522" y="0"/>
                </a:cubicBezTo>
                <a:close/>
                <a:moveTo>
                  <a:pt x="525" y="940"/>
                </a:moveTo>
                <a:cubicBezTo>
                  <a:pt x="293" y="940"/>
                  <a:pt x="107" y="754"/>
                  <a:pt x="107" y="522"/>
                </a:cubicBezTo>
                <a:cubicBezTo>
                  <a:pt x="107" y="291"/>
                  <a:pt x="293" y="104"/>
                  <a:pt x="525" y="104"/>
                </a:cubicBezTo>
                <a:cubicBezTo>
                  <a:pt x="756" y="104"/>
                  <a:pt x="942" y="290"/>
                  <a:pt x="942" y="522"/>
                </a:cubicBezTo>
                <a:cubicBezTo>
                  <a:pt x="942" y="753"/>
                  <a:pt x="753" y="940"/>
                  <a:pt x="525" y="940"/>
                </a:cubicBezTo>
                <a:close/>
                <a:moveTo>
                  <a:pt x="471" y="259"/>
                </a:moveTo>
                <a:lnTo>
                  <a:pt x="471" y="573"/>
                </a:lnTo>
                <a:lnTo>
                  <a:pt x="745" y="736"/>
                </a:lnTo>
                <a:lnTo>
                  <a:pt x="784" y="671"/>
                </a:lnTo>
                <a:lnTo>
                  <a:pt x="550" y="533"/>
                </a:lnTo>
                <a:lnTo>
                  <a:pt x="550" y="259"/>
                </a:lnTo>
                <a:lnTo>
                  <a:pt x="471" y="259"/>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68" name="Google Shape;168;p41"/>
          <p:cNvSpPr/>
          <p:nvPr/>
        </p:nvSpPr>
        <p:spPr>
          <a:xfrm>
            <a:off x="610513" y="1600284"/>
            <a:ext cx="327623" cy="217176"/>
          </a:xfrm>
          <a:custGeom>
            <a:avLst/>
            <a:gdLst/>
            <a:ahLst/>
            <a:cxnLst/>
            <a:rect l="l" t="t" r="r" b="b"/>
            <a:pathLst>
              <a:path w="1149" h="765" extrusionOk="0">
                <a:moveTo>
                  <a:pt x="191" y="96"/>
                </a:moveTo>
                <a:lnTo>
                  <a:pt x="1052" y="96"/>
                </a:lnTo>
                <a:lnTo>
                  <a:pt x="1052" y="0"/>
                </a:lnTo>
                <a:lnTo>
                  <a:pt x="191" y="0"/>
                </a:lnTo>
                <a:cubicBezTo>
                  <a:pt x="138" y="0"/>
                  <a:pt x="95" y="42"/>
                  <a:pt x="95" y="96"/>
                </a:cubicBezTo>
                <a:lnTo>
                  <a:pt x="95" y="621"/>
                </a:lnTo>
                <a:lnTo>
                  <a:pt x="0" y="621"/>
                </a:lnTo>
                <a:lnTo>
                  <a:pt x="0" y="764"/>
                </a:lnTo>
                <a:lnTo>
                  <a:pt x="668" y="764"/>
                </a:lnTo>
                <a:lnTo>
                  <a:pt x="668" y="621"/>
                </a:lnTo>
                <a:lnTo>
                  <a:pt x="191" y="621"/>
                </a:lnTo>
                <a:lnTo>
                  <a:pt x="191" y="96"/>
                </a:lnTo>
                <a:close/>
                <a:moveTo>
                  <a:pt x="1100" y="189"/>
                </a:moveTo>
                <a:lnTo>
                  <a:pt x="812" y="189"/>
                </a:lnTo>
                <a:cubicBezTo>
                  <a:pt x="787" y="189"/>
                  <a:pt x="764" y="211"/>
                  <a:pt x="764" y="237"/>
                </a:cubicBezTo>
                <a:lnTo>
                  <a:pt x="764" y="714"/>
                </a:lnTo>
                <a:cubicBezTo>
                  <a:pt x="764" y="739"/>
                  <a:pt x="787" y="762"/>
                  <a:pt x="812" y="762"/>
                </a:cubicBezTo>
                <a:lnTo>
                  <a:pt x="1100" y="762"/>
                </a:lnTo>
                <a:cubicBezTo>
                  <a:pt x="1126" y="762"/>
                  <a:pt x="1148" y="739"/>
                  <a:pt x="1148" y="714"/>
                </a:cubicBezTo>
                <a:lnTo>
                  <a:pt x="1148" y="237"/>
                </a:lnTo>
                <a:cubicBezTo>
                  <a:pt x="1145" y="211"/>
                  <a:pt x="1126" y="189"/>
                  <a:pt x="1100" y="189"/>
                </a:cubicBezTo>
                <a:close/>
                <a:moveTo>
                  <a:pt x="1052" y="621"/>
                </a:moveTo>
                <a:lnTo>
                  <a:pt x="860" y="621"/>
                </a:lnTo>
                <a:lnTo>
                  <a:pt x="860" y="285"/>
                </a:lnTo>
                <a:lnTo>
                  <a:pt x="1052" y="285"/>
                </a:lnTo>
                <a:lnTo>
                  <a:pt x="1052" y="621"/>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69" name="Google Shape;169;p41"/>
          <p:cNvSpPr txBox="1"/>
          <p:nvPr/>
        </p:nvSpPr>
        <p:spPr>
          <a:xfrm>
            <a:off x="6301825" y="2355137"/>
            <a:ext cx="1811100" cy="36930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solidFill>
                  <a:srgbClr val="5F6368"/>
                </a:solidFill>
                <a:latin typeface="Open Sans"/>
                <a:ea typeface="Open Sans"/>
                <a:cs typeface="Open Sans"/>
                <a:sym typeface="Open Sans"/>
              </a:rPr>
              <a:t>.</a:t>
            </a:r>
            <a:endParaRPr sz="1200" dirty="0">
              <a:solidFill>
                <a:srgbClr val="5F6368"/>
              </a:solidFill>
              <a:latin typeface="Open Sans"/>
              <a:ea typeface="Open Sans"/>
              <a:cs typeface="Open Sans"/>
              <a:sym typeface="Open Sans"/>
            </a:endParaRPr>
          </a:p>
        </p:txBody>
      </p:sp>
      <p:pic>
        <p:nvPicPr>
          <p:cNvPr id="7" name="Picture 6">
            <a:extLst>
              <a:ext uri="{FF2B5EF4-FFF2-40B4-BE49-F238E27FC236}">
                <a16:creationId xmlns:a16="http://schemas.microsoft.com/office/drawing/2014/main" xmlns="" id="{D1DAD1A3-3C5D-86BA-73A4-E8A2AFF9B900}"/>
              </a:ext>
            </a:extLst>
          </p:cNvPr>
          <p:cNvPicPr>
            <a:picLocks noChangeAspect="1"/>
          </p:cNvPicPr>
          <p:nvPr/>
        </p:nvPicPr>
        <p:blipFill>
          <a:blip r:embed="rId3"/>
          <a:stretch>
            <a:fillRect/>
          </a:stretch>
        </p:blipFill>
        <p:spPr>
          <a:xfrm>
            <a:off x="5077375" y="581921"/>
            <a:ext cx="1904045" cy="4091924"/>
          </a:xfrm>
          <a:prstGeom prst="rect">
            <a:avLst/>
          </a:prstGeom>
        </p:spPr>
      </p:pic>
      <p:pic>
        <p:nvPicPr>
          <p:cNvPr id="9" name="Picture 8">
            <a:extLst>
              <a:ext uri="{FF2B5EF4-FFF2-40B4-BE49-F238E27FC236}">
                <a16:creationId xmlns:a16="http://schemas.microsoft.com/office/drawing/2014/main" xmlns="" id="{A3F2B036-9663-A64B-CD3D-50553328982A}"/>
              </a:ext>
            </a:extLst>
          </p:cNvPr>
          <p:cNvPicPr>
            <a:picLocks noChangeAspect="1"/>
          </p:cNvPicPr>
          <p:nvPr/>
        </p:nvPicPr>
        <p:blipFill>
          <a:blip r:embed="rId4"/>
          <a:stretch>
            <a:fillRect/>
          </a:stretch>
        </p:blipFill>
        <p:spPr>
          <a:xfrm>
            <a:off x="7059229" y="581921"/>
            <a:ext cx="1904046" cy="409192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2"/>
          <p:cNvSpPr txBox="1"/>
          <p:nvPr/>
        </p:nvSpPr>
        <p:spPr>
          <a:xfrm>
            <a:off x="517675" y="2237975"/>
            <a:ext cx="3446100" cy="1892796"/>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 dirty="0">
                <a:solidFill>
                  <a:srgbClr val="4285F4"/>
                </a:solidFill>
                <a:latin typeface="Open Sans SemiBold"/>
                <a:ea typeface="Open Sans SemiBold"/>
                <a:cs typeface="Open Sans SemiBold"/>
                <a:sym typeface="Open Sans SemiBold"/>
              </a:rPr>
              <a:t>The problem: </a:t>
            </a:r>
            <a:endParaRPr dirty="0">
              <a:solidFill>
                <a:srgbClr val="1967D2"/>
              </a:solidFill>
              <a:latin typeface="Open Sans SemiBold"/>
              <a:ea typeface="Open Sans SemiBold"/>
              <a:cs typeface="Open Sans SemiBold"/>
              <a:sym typeface="Open Sans SemiBold"/>
            </a:endParaRPr>
          </a:p>
          <a:p>
            <a:pPr lvl="0" algn="just">
              <a:lnSpc>
                <a:spcPct val="150000"/>
              </a:lnSpc>
            </a:pPr>
            <a:r>
              <a:rPr lang="en-US" sz="1200" dirty="0"/>
              <a:t>Many people lose personal belongings in public places like universities, offices, and transport areas. There is no centralized system to report or find these items, which leads to loss, confusion, and wasted time.</a:t>
            </a:r>
            <a:endParaRPr sz="1200" b="1" dirty="0">
              <a:solidFill>
                <a:srgbClr val="4285F4"/>
              </a:solidFill>
              <a:latin typeface="Open Sans"/>
              <a:ea typeface="Open Sans"/>
              <a:cs typeface="Open Sans"/>
              <a:sym typeface="Open Sans"/>
            </a:endParaRPr>
          </a:p>
        </p:txBody>
      </p:sp>
      <p:sp>
        <p:nvSpPr>
          <p:cNvPr id="175" name="Google Shape;175;p42"/>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Project overview</a:t>
            </a:r>
            <a:endParaRPr sz="2400">
              <a:solidFill>
                <a:srgbClr val="5F6368"/>
              </a:solidFill>
              <a:latin typeface="Open Sans"/>
              <a:ea typeface="Open Sans"/>
              <a:cs typeface="Open Sans"/>
              <a:sym typeface="Open Sans"/>
            </a:endParaRPr>
          </a:p>
        </p:txBody>
      </p:sp>
      <p:sp>
        <p:nvSpPr>
          <p:cNvPr id="176" name="Google Shape;176;p42"/>
          <p:cNvSpPr/>
          <p:nvPr/>
        </p:nvSpPr>
        <p:spPr>
          <a:xfrm>
            <a:off x="517675"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2"/>
          <p:cNvSpPr txBox="1"/>
          <p:nvPr/>
        </p:nvSpPr>
        <p:spPr>
          <a:xfrm>
            <a:off x="4572000" y="2237975"/>
            <a:ext cx="3446100" cy="1615797"/>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4285F4"/>
                </a:solidFill>
                <a:latin typeface="Open Sans SemiBold"/>
                <a:ea typeface="Open Sans SemiBold"/>
                <a:cs typeface="Open Sans SemiBold"/>
                <a:sym typeface="Open Sans SemiBold"/>
              </a:rPr>
              <a:t>The goal: </a:t>
            </a:r>
            <a:endParaRPr dirty="0">
              <a:solidFill>
                <a:srgbClr val="1967D2"/>
              </a:solidFill>
              <a:latin typeface="Open Sans SemiBold"/>
              <a:ea typeface="Open Sans SemiBold"/>
              <a:cs typeface="Open Sans SemiBold"/>
              <a:sym typeface="Open Sans SemiBold"/>
            </a:endParaRPr>
          </a:p>
          <a:p>
            <a:pPr algn="just">
              <a:lnSpc>
                <a:spcPct val="150000"/>
              </a:lnSpc>
            </a:pPr>
            <a:r>
              <a:rPr lang="en-US" sz="1200" dirty="0"/>
              <a:t>To design a system that allows users to easily report lost/found items, search for items, and recover them through a secure and verified claim process managed by an admin.</a:t>
            </a:r>
          </a:p>
        </p:txBody>
      </p:sp>
      <p:sp>
        <p:nvSpPr>
          <p:cNvPr id="178" name="Google Shape;178;p42"/>
          <p:cNvSpPr/>
          <p:nvPr/>
        </p:nvSpPr>
        <p:spPr>
          <a:xfrm>
            <a:off x="4572000"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42"/>
          <p:cNvSpPr/>
          <p:nvPr/>
        </p:nvSpPr>
        <p:spPr>
          <a:xfrm>
            <a:off x="4684213" y="1653525"/>
            <a:ext cx="288875" cy="274249"/>
          </a:xfrm>
          <a:custGeom>
            <a:avLst/>
            <a:gdLst/>
            <a:ahLst/>
            <a:cxnLst/>
            <a:rect l="l" t="t" r="r" b="b"/>
            <a:pathLst>
              <a:path w="1045" h="993" extrusionOk="0">
                <a:moveTo>
                  <a:pt x="522" y="798"/>
                </a:moveTo>
                <a:lnTo>
                  <a:pt x="844" y="992"/>
                </a:lnTo>
                <a:lnTo>
                  <a:pt x="759" y="626"/>
                </a:lnTo>
                <a:lnTo>
                  <a:pt x="1044" y="378"/>
                </a:lnTo>
                <a:lnTo>
                  <a:pt x="669" y="347"/>
                </a:lnTo>
                <a:lnTo>
                  <a:pt x="522" y="0"/>
                </a:lnTo>
                <a:lnTo>
                  <a:pt x="375" y="347"/>
                </a:lnTo>
                <a:lnTo>
                  <a:pt x="0" y="378"/>
                </a:lnTo>
                <a:lnTo>
                  <a:pt x="285" y="626"/>
                </a:lnTo>
                <a:lnTo>
                  <a:pt x="200" y="992"/>
                </a:lnTo>
                <a:lnTo>
                  <a:pt x="522" y="798"/>
                </a:lnTo>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80" name="Google Shape;180;p42"/>
          <p:cNvSpPr/>
          <p:nvPr/>
        </p:nvSpPr>
        <p:spPr>
          <a:xfrm>
            <a:off x="640475" y="1656801"/>
            <a:ext cx="267700" cy="267700"/>
          </a:xfrm>
          <a:custGeom>
            <a:avLst/>
            <a:gdLst/>
            <a:ahLst/>
            <a:cxnLst/>
            <a:rect l="l" t="t" r="r" b="b"/>
            <a:pathLst>
              <a:path w="209550" h="209550" extrusionOk="0">
                <a:moveTo>
                  <a:pt x="115315" y="52353"/>
                </a:moveTo>
                <a:lnTo>
                  <a:pt x="115315" y="115315"/>
                </a:lnTo>
                <a:lnTo>
                  <a:pt x="94235" y="115315"/>
                </a:lnTo>
                <a:lnTo>
                  <a:pt x="94235" y="52353"/>
                </a:lnTo>
                <a:close/>
                <a:moveTo>
                  <a:pt x="115315" y="136256"/>
                </a:moveTo>
                <a:lnTo>
                  <a:pt x="115315" y="157197"/>
                </a:lnTo>
                <a:lnTo>
                  <a:pt x="94235" y="157197"/>
                </a:lnTo>
                <a:lnTo>
                  <a:pt x="94235" y="136256"/>
                </a:lnTo>
                <a:close/>
                <a:moveTo>
                  <a:pt x="104705" y="0"/>
                </a:moveTo>
                <a:lnTo>
                  <a:pt x="99400" y="140"/>
                </a:lnTo>
                <a:lnTo>
                  <a:pt x="94095" y="558"/>
                </a:lnTo>
                <a:lnTo>
                  <a:pt x="88790" y="1256"/>
                </a:lnTo>
                <a:lnTo>
                  <a:pt x="83625" y="2094"/>
                </a:lnTo>
                <a:lnTo>
                  <a:pt x="78599" y="3351"/>
                </a:lnTo>
                <a:lnTo>
                  <a:pt x="73573" y="4747"/>
                </a:lnTo>
                <a:lnTo>
                  <a:pt x="68687" y="6422"/>
                </a:lnTo>
                <a:lnTo>
                  <a:pt x="63940" y="8237"/>
                </a:lnTo>
                <a:lnTo>
                  <a:pt x="59333" y="10331"/>
                </a:lnTo>
                <a:lnTo>
                  <a:pt x="54866" y="12704"/>
                </a:lnTo>
                <a:lnTo>
                  <a:pt x="50398" y="15217"/>
                </a:lnTo>
                <a:lnTo>
                  <a:pt x="46210" y="17870"/>
                </a:lnTo>
                <a:lnTo>
                  <a:pt x="42022" y="20801"/>
                </a:lnTo>
                <a:lnTo>
                  <a:pt x="38113" y="23873"/>
                </a:lnTo>
                <a:lnTo>
                  <a:pt x="34343" y="27223"/>
                </a:lnTo>
                <a:lnTo>
                  <a:pt x="30714" y="30714"/>
                </a:lnTo>
                <a:lnTo>
                  <a:pt x="27223" y="34343"/>
                </a:lnTo>
                <a:lnTo>
                  <a:pt x="23873" y="38113"/>
                </a:lnTo>
                <a:lnTo>
                  <a:pt x="20801" y="42161"/>
                </a:lnTo>
                <a:lnTo>
                  <a:pt x="17870" y="46210"/>
                </a:lnTo>
                <a:lnTo>
                  <a:pt x="15217" y="50398"/>
                </a:lnTo>
                <a:lnTo>
                  <a:pt x="12704" y="54866"/>
                </a:lnTo>
                <a:lnTo>
                  <a:pt x="10331" y="59333"/>
                </a:lnTo>
                <a:lnTo>
                  <a:pt x="8237" y="63940"/>
                </a:lnTo>
                <a:lnTo>
                  <a:pt x="6282" y="68826"/>
                </a:lnTo>
                <a:lnTo>
                  <a:pt x="4747" y="73573"/>
                </a:lnTo>
                <a:lnTo>
                  <a:pt x="3351" y="78599"/>
                </a:lnTo>
                <a:lnTo>
                  <a:pt x="2094" y="83625"/>
                </a:lnTo>
                <a:lnTo>
                  <a:pt x="1256" y="88790"/>
                </a:lnTo>
                <a:lnTo>
                  <a:pt x="558" y="94095"/>
                </a:lnTo>
                <a:lnTo>
                  <a:pt x="140" y="99400"/>
                </a:lnTo>
                <a:lnTo>
                  <a:pt x="0" y="104845"/>
                </a:lnTo>
                <a:lnTo>
                  <a:pt x="140" y="110150"/>
                </a:lnTo>
                <a:lnTo>
                  <a:pt x="558" y="115455"/>
                </a:lnTo>
                <a:lnTo>
                  <a:pt x="1256" y="120760"/>
                </a:lnTo>
                <a:lnTo>
                  <a:pt x="2094" y="125925"/>
                </a:lnTo>
                <a:lnTo>
                  <a:pt x="3351" y="130951"/>
                </a:lnTo>
                <a:lnTo>
                  <a:pt x="4747" y="135977"/>
                </a:lnTo>
                <a:lnTo>
                  <a:pt x="6282" y="140863"/>
                </a:lnTo>
                <a:lnTo>
                  <a:pt x="8237" y="145610"/>
                </a:lnTo>
                <a:lnTo>
                  <a:pt x="10331" y="150217"/>
                </a:lnTo>
                <a:lnTo>
                  <a:pt x="12704" y="154684"/>
                </a:lnTo>
                <a:lnTo>
                  <a:pt x="15217" y="159152"/>
                </a:lnTo>
                <a:lnTo>
                  <a:pt x="17870" y="163340"/>
                </a:lnTo>
                <a:lnTo>
                  <a:pt x="20801" y="167528"/>
                </a:lnTo>
                <a:lnTo>
                  <a:pt x="23873" y="171437"/>
                </a:lnTo>
                <a:lnTo>
                  <a:pt x="27223" y="175207"/>
                </a:lnTo>
                <a:lnTo>
                  <a:pt x="30714" y="178836"/>
                </a:lnTo>
                <a:lnTo>
                  <a:pt x="34343" y="182327"/>
                </a:lnTo>
                <a:lnTo>
                  <a:pt x="38113" y="185677"/>
                </a:lnTo>
                <a:lnTo>
                  <a:pt x="42022" y="188749"/>
                </a:lnTo>
                <a:lnTo>
                  <a:pt x="46210" y="191680"/>
                </a:lnTo>
                <a:lnTo>
                  <a:pt x="50398" y="194333"/>
                </a:lnTo>
                <a:lnTo>
                  <a:pt x="54866" y="196846"/>
                </a:lnTo>
                <a:lnTo>
                  <a:pt x="59333" y="199219"/>
                </a:lnTo>
                <a:lnTo>
                  <a:pt x="63940" y="201313"/>
                </a:lnTo>
                <a:lnTo>
                  <a:pt x="68687" y="203268"/>
                </a:lnTo>
                <a:lnTo>
                  <a:pt x="73573" y="204803"/>
                </a:lnTo>
                <a:lnTo>
                  <a:pt x="78599" y="206199"/>
                </a:lnTo>
                <a:lnTo>
                  <a:pt x="83625" y="207456"/>
                </a:lnTo>
                <a:lnTo>
                  <a:pt x="88790" y="208294"/>
                </a:lnTo>
                <a:lnTo>
                  <a:pt x="94095" y="208992"/>
                </a:lnTo>
                <a:lnTo>
                  <a:pt x="99400" y="209410"/>
                </a:lnTo>
                <a:lnTo>
                  <a:pt x="104705" y="209550"/>
                </a:lnTo>
                <a:lnTo>
                  <a:pt x="110150" y="209410"/>
                </a:lnTo>
                <a:lnTo>
                  <a:pt x="115455" y="208992"/>
                </a:lnTo>
                <a:lnTo>
                  <a:pt x="120760" y="208294"/>
                </a:lnTo>
                <a:lnTo>
                  <a:pt x="125925" y="207456"/>
                </a:lnTo>
                <a:lnTo>
                  <a:pt x="130951" y="206199"/>
                </a:lnTo>
                <a:lnTo>
                  <a:pt x="135977" y="204803"/>
                </a:lnTo>
                <a:lnTo>
                  <a:pt x="140724" y="203268"/>
                </a:lnTo>
                <a:lnTo>
                  <a:pt x="145610" y="201313"/>
                </a:lnTo>
                <a:lnTo>
                  <a:pt x="150217" y="199219"/>
                </a:lnTo>
                <a:lnTo>
                  <a:pt x="154684" y="196846"/>
                </a:lnTo>
                <a:lnTo>
                  <a:pt x="159152" y="194333"/>
                </a:lnTo>
                <a:lnTo>
                  <a:pt x="163340" y="191680"/>
                </a:lnTo>
                <a:lnTo>
                  <a:pt x="167389" y="188749"/>
                </a:lnTo>
                <a:lnTo>
                  <a:pt x="171437" y="185677"/>
                </a:lnTo>
                <a:lnTo>
                  <a:pt x="175207" y="182327"/>
                </a:lnTo>
                <a:lnTo>
                  <a:pt x="178836" y="178836"/>
                </a:lnTo>
                <a:lnTo>
                  <a:pt x="182327" y="175207"/>
                </a:lnTo>
                <a:lnTo>
                  <a:pt x="185677" y="171437"/>
                </a:lnTo>
                <a:lnTo>
                  <a:pt x="188749" y="167528"/>
                </a:lnTo>
                <a:lnTo>
                  <a:pt x="191680" y="163340"/>
                </a:lnTo>
                <a:lnTo>
                  <a:pt x="194333" y="159152"/>
                </a:lnTo>
                <a:lnTo>
                  <a:pt x="196846" y="154684"/>
                </a:lnTo>
                <a:lnTo>
                  <a:pt x="199219" y="150217"/>
                </a:lnTo>
                <a:lnTo>
                  <a:pt x="201313" y="145610"/>
                </a:lnTo>
                <a:lnTo>
                  <a:pt x="203128" y="140863"/>
                </a:lnTo>
                <a:lnTo>
                  <a:pt x="204803" y="135977"/>
                </a:lnTo>
                <a:lnTo>
                  <a:pt x="206199" y="130951"/>
                </a:lnTo>
                <a:lnTo>
                  <a:pt x="207456" y="125925"/>
                </a:lnTo>
                <a:lnTo>
                  <a:pt x="208294" y="120760"/>
                </a:lnTo>
                <a:lnTo>
                  <a:pt x="208992" y="115455"/>
                </a:lnTo>
                <a:lnTo>
                  <a:pt x="209410" y="110150"/>
                </a:lnTo>
                <a:lnTo>
                  <a:pt x="209550" y="104845"/>
                </a:lnTo>
                <a:lnTo>
                  <a:pt x="209410" y="99400"/>
                </a:lnTo>
                <a:lnTo>
                  <a:pt x="208992" y="94095"/>
                </a:lnTo>
                <a:lnTo>
                  <a:pt x="208294" y="88790"/>
                </a:lnTo>
                <a:lnTo>
                  <a:pt x="207456" y="83625"/>
                </a:lnTo>
                <a:lnTo>
                  <a:pt x="206199" y="78599"/>
                </a:lnTo>
                <a:lnTo>
                  <a:pt x="204803" y="73573"/>
                </a:lnTo>
                <a:lnTo>
                  <a:pt x="203128" y="68826"/>
                </a:lnTo>
                <a:lnTo>
                  <a:pt x="201313" y="63940"/>
                </a:lnTo>
                <a:lnTo>
                  <a:pt x="199219" y="59333"/>
                </a:lnTo>
                <a:lnTo>
                  <a:pt x="196846" y="54866"/>
                </a:lnTo>
                <a:lnTo>
                  <a:pt x="194333" y="50398"/>
                </a:lnTo>
                <a:lnTo>
                  <a:pt x="191680" y="46210"/>
                </a:lnTo>
                <a:lnTo>
                  <a:pt x="188749" y="42161"/>
                </a:lnTo>
                <a:lnTo>
                  <a:pt x="185677" y="38113"/>
                </a:lnTo>
                <a:lnTo>
                  <a:pt x="182327" y="34343"/>
                </a:lnTo>
                <a:lnTo>
                  <a:pt x="178836" y="30714"/>
                </a:lnTo>
                <a:lnTo>
                  <a:pt x="175207" y="27223"/>
                </a:lnTo>
                <a:lnTo>
                  <a:pt x="171437" y="23873"/>
                </a:lnTo>
                <a:lnTo>
                  <a:pt x="167389" y="20801"/>
                </a:lnTo>
                <a:lnTo>
                  <a:pt x="163340" y="17870"/>
                </a:lnTo>
                <a:lnTo>
                  <a:pt x="159152" y="15217"/>
                </a:lnTo>
                <a:lnTo>
                  <a:pt x="154684" y="12704"/>
                </a:lnTo>
                <a:lnTo>
                  <a:pt x="150217" y="10331"/>
                </a:lnTo>
                <a:lnTo>
                  <a:pt x="145610" y="8237"/>
                </a:lnTo>
                <a:lnTo>
                  <a:pt x="140724" y="6422"/>
                </a:lnTo>
                <a:lnTo>
                  <a:pt x="135977" y="4747"/>
                </a:lnTo>
                <a:lnTo>
                  <a:pt x="130951" y="3351"/>
                </a:lnTo>
                <a:lnTo>
                  <a:pt x="125925" y="2094"/>
                </a:lnTo>
                <a:lnTo>
                  <a:pt x="120760" y="1256"/>
                </a:lnTo>
                <a:lnTo>
                  <a:pt x="115455" y="558"/>
                </a:lnTo>
                <a:lnTo>
                  <a:pt x="110150" y="140"/>
                </a:lnTo>
                <a:lnTo>
                  <a:pt x="1047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43"/>
          <p:cNvSpPr txBox="1"/>
          <p:nvPr/>
        </p:nvSpPr>
        <p:spPr>
          <a:xfrm>
            <a:off x="446113" y="2237975"/>
            <a:ext cx="3446100" cy="784800"/>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4285F4"/>
                </a:solidFill>
                <a:latin typeface="Open Sans SemiBold"/>
                <a:ea typeface="Open Sans SemiBold"/>
                <a:cs typeface="Open Sans SemiBold"/>
                <a:sym typeface="Open Sans SemiBold"/>
              </a:rPr>
              <a:t>My role: </a:t>
            </a:r>
            <a:endParaRPr dirty="0">
              <a:solidFill>
                <a:srgbClr val="1967D2"/>
              </a:solidFill>
              <a:latin typeface="Open Sans SemiBold"/>
              <a:ea typeface="Open Sans SemiBold"/>
              <a:cs typeface="Open Sans SemiBold"/>
              <a:sym typeface="Open Sans SemiBold"/>
            </a:endParaRPr>
          </a:p>
          <a:p>
            <a:pPr lvl="0">
              <a:lnSpc>
                <a:spcPct val="150000"/>
              </a:lnSpc>
            </a:pPr>
            <a:r>
              <a:rPr lang="en-US" sz="1200" dirty="0"/>
              <a:t>UX Designer / UX Research Contributor</a:t>
            </a:r>
            <a:endParaRPr sz="1200" b="1" dirty="0">
              <a:solidFill>
                <a:srgbClr val="4285F4"/>
              </a:solidFill>
              <a:latin typeface="Open Sans"/>
              <a:ea typeface="Open Sans"/>
              <a:cs typeface="Open Sans"/>
              <a:sym typeface="Open Sans"/>
            </a:endParaRPr>
          </a:p>
        </p:txBody>
      </p:sp>
      <p:sp>
        <p:nvSpPr>
          <p:cNvPr id="186" name="Google Shape;186;p43"/>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Project overview</a:t>
            </a:r>
            <a:endParaRPr sz="2400">
              <a:solidFill>
                <a:srgbClr val="5F6368"/>
              </a:solidFill>
              <a:latin typeface="Open Sans"/>
              <a:ea typeface="Open Sans"/>
              <a:cs typeface="Open Sans"/>
              <a:sym typeface="Open Sans"/>
            </a:endParaRPr>
          </a:p>
        </p:txBody>
      </p:sp>
      <p:sp>
        <p:nvSpPr>
          <p:cNvPr id="187" name="Google Shape;187;p43"/>
          <p:cNvSpPr/>
          <p:nvPr/>
        </p:nvSpPr>
        <p:spPr>
          <a:xfrm>
            <a:off x="517675"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43"/>
          <p:cNvSpPr txBox="1"/>
          <p:nvPr/>
        </p:nvSpPr>
        <p:spPr>
          <a:xfrm>
            <a:off x="4572000" y="2237975"/>
            <a:ext cx="3446100" cy="1892796"/>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4285F4"/>
                </a:solidFill>
                <a:latin typeface="Open Sans SemiBold"/>
                <a:ea typeface="Open Sans SemiBold"/>
                <a:cs typeface="Open Sans SemiBold"/>
                <a:sym typeface="Open Sans SemiBold"/>
              </a:rPr>
              <a:t>Responsibilities</a:t>
            </a:r>
            <a:r>
              <a:rPr lang="en" dirty="0">
                <a:solidFill>
                  <a:srgbClr val="1967D2"/>
                </a:solidFill>
                <a:latin typeface="Open Sans SemiBold"/>
                <a:ea typeface="Open Sans SemiBold"/>
                <a:cs typeface="Open Sans SemiBold"/>
                <a:sym typeface="Open Sans SemiBold"/>
              </a:rPr>
              <a:t>: </a:t>
            </a:r>
            <a:endParaRPr dirty="0">
              <a:solidFill>
                <a:srgbClr val="1967D2"/>
              </a:solidFill>
              <a:latin typeface="Open Sans SemiBold"/>
              <a:ea typeface="Open Sans SemiBold"/>
              <a:cs typeface="Open Sans SemiBold"/>
              <a:sym typeface="Open Sans SemiBold"/>
            </a:endParaRPr>
          </a:p>
          <a:p>
            <a:pPr marL="171450" lvl="0" indent="-171450" algn="just" rtl="0">
              <a:lnSpc>
                <a:spcPct val="150000"/>
              </a:lnSpc>
              <a:spcBef>
                <a:spcPts val="0"/>
              </a:spcBef>
              <a:spcAft>
                <a:spcPts val="0"/>
              </a:spcAft>
              <a:buFont typeface="Arial" panose="020B0604020202020204" pitchFamily="34" charset="0"/>
              <a:buChar char="•"/>
            </a:pPr>
            <a:r>
              <a:rPr lang="en-US" sz="1200" dirty="0">
                <a:solidFill>
                  <a:schemeClr val="tx1"/>
                </a:solidFill>
                <a:latin typeface="Open Sans"/>
                <a:ea typeface="Open Sans"/>
                <a:cs typeface="Open Sans"/>
                <a:sym typeface="Open Sans"/>
              </a:rPr>
              <a:t>Designed high-fidelity UI screens.</a:t>
            </a:r>
          </a:p>
          <a:p>
            <a:pPr marL="171450" lvl="0" indent="-171450" algn="just" rtl="0">
              <a:lnSpc>
                <a:spcPct val="150000"/>
              </a:lnSpc>
              <a:spcBef>
                <a:spcPts val="0"/>
              </a:spcBef>
              <a:spcAft>
                <a:spcPts val="0"/>
              </a:spcAft>
              <a:buFont typeface="Arial" panose="020B0604020202020204" pitchFamily="34" charset="0"/>
              <a:buChar char="•"/>
            </a:pPr>
            <a:r>
              <a:rPr lang="en-US" sz="1200" dirty="0">
                <a:solidFill>
                  <a:schemeClr val="tx1"/>
                </a:solidFill>
                <a:latin typeface="Open Sans"/>
                <a:ea typeface="Open Sans"/>
                <a:cs typeface="Open Sans"/>
                <a:sym typeface="Open Sans"/>
              </a:rPr>
              <a:t>Conducted user research activities.</a:t>
            </a:r>
          </a:p>
          <a:p>
            <a:pPr marL="171450" lvl="0" indent="-171450" algn="just" rtl="0">
              <a:lnSpc>
                <a:spcPct val="150000"/>
              </a:lnSpc>
              <a:spcBef>
                <a:spcPts val="0"/>
              </a:spcBef>
              <a:spcAft>
                <a:spcPts val="0"/>
              </a:spcAft>
              <a:buFont typeface="Arial" panose="020B0604020202020204" pitchFamily="34" charset="0"/>
              <a:buChar char="•"/>
            </a:pPr>
            <a:r>
              <a:rPr lang="en-US" sz="1200" dirty="0">
                <a:solidFill>
                  <a:schemeClr val="tx1"/>
                </a:solidFill>
                <a:latin typeface="Open Sans"/>
                <a:ea typeface="Open Sans"/>
                <a:cs typeface="Open Sans"/>
                <a:sym typeface="Open Sans"/>
              </a:rPr>
              <a:t>Assisted in usability testing sessions.</a:t>
            </a:r>
          </a:p>
          <a:p>
            <a:pPr marL="171450" lvl="0" indent="-171450" algn="just" rtl="0">
              <a:lnSpc>
                <a:spcPct val="150000"/>
              </a:lnSpc>
              <a:spcBef>
                <a:spcPts val="0"/>
              </a:spcBef>
              <a:spcAft>
                <a:spcPts val="0"/>
              </a:spcAft>
              <a:buFont typeface="Arial" panose="020B0604020202020204" pitchFamily="34" charset="0"/>
              <a:buChar char="•"/>
            </a:pPr>
            <a:r>
              <a:rPr lang="en-US" sz="1200" dirty="0">
                <a:solidFill>
                  <a:schemeClr val="tx1"/>
                </a:solidFill>
                <a:latin typeface="Open Sans"/>
                <a:ea typeface="Open Sans"/>
                <a:cs typeface="Open Sans"/>
                <a:sym typeface="Open Sans"/>
              </a:rPr>
              <a:t>Improved UI based on user feedback and testing results</a:t>
            </a:r>
            <a:r>
              <a:rPr lang="en" sz="1200" dirty="0">
                <a:solidFill>
                  <a:schemeClr val="tx1"/>
                </a:solidFill>
                <a:latin typeface="Open Sans"/>
                <a:ea typeface="Open Sans"/>
                <a:cs typeface="Open Sans"/>
                <a:sym typeface="Open Sans"/>
              </a:rPr>
              <a:t>.</a:t>
            </a:r>
            <a:endParaRPr sz="1200" b="1" dirty="0">
              <a:solidFill>
                <a:schemeClr val="tx1"/>
              </a:solidFill>
              <a:latin typeface="Open Sans"/>
              <a:ea typeface="Open Sans"/>
              <a:cs typeface="Open Sans"/>
              <a:sym typeface="Open Sans"/>
            </a:endParaRPr>
          </a:p>
        </p:txBody>
      </p:sp>
      <p:sp>
        <p:nvSpPr>
          <p:cNvPr id="189" name="Google Shape;189;p43"/>
          <p:cNvSpPr/>
          <p:nvPr/>
        </p:nvSpPr>
        <p:spPr>
          <a:xfrm>
            <a:off x="4572000" y="1534000"/>
            <a:ext cx="513300" cy="513300"/>
          </a:xfrm>
          <a:prstGeom prst="ellipse">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3"/>
          <p:cNvSpPr/>
          <p:nvPr/>
        </p:nvSpPr>
        <p:spPr>
          <a:xfrm>
            <a:off x="645441" y="1662440"/>
            <a:ext cx="257757" cy="256421"/>
          </a:xfrm>
          <a:custGeom>
            <a:avLst/>
            <a:gdLst/>
            <a:ahLst/>
            <a:cxnLst/>
            <a:rect l="l" t="t" r="r" b="b"/>
            <a:pathLst>
              <a:path w="851" h="847" extrusionOk="0">
                <a:moveTo>
                  <a:pt x="423" y="423"/>
                </a:moveTo>
                <a:cubicBezTo>
                  <a:pt x="542" y="423"/>
                  <a:pt x="635" y="327"/>
                  <a:pt x="635" y="212"/>
                </a:cubicBezTo>
                <a:cubicBezTo>
                  <a:pt x="635" y="93"/>
                  <a:pt x="539" y="0"/>
                  <a:pt x="423" y="0"/>
                </a:cubicBezTo>
                <a:cubicBezTo>
                  <a:pt x="308" y="0"/>
                  <a:pt x="212" y="96"/>
                  <a:pt x="212" y="212"/>
                </a:cubicBezTo>
                <a:cubicBezTo>
                  <a:pt x="209" y="327"/>
                  <a:pt x="305" y="423"/>
                  <a:pt x="423" y="423"/>
                </a:cubicBezTo>
                <a:close/>
                <a:moveTo>
                  <a:pt x="423" y="528"/>
                </a:moveTo>
                <a:cubicBezTo>
                  <a:pt x="282" y="528"/>
                  <a:pt x="0" y="598"/>
                  <a:pt x="0" y="738"/>
                </a:cubicBezTo>
                <a:lnTo>
                  <a:pt x="0" y="846"/>
                </a:lnTo>
                <a:lnTo>
                  <a:pt x="850" y="846"/>
                </a:lnTo>
                <a:lnTo>
                  <a:pt x="850" y="738"/>
                </a:lnTo>
                <a:cubicBezTo>
                  <a:pt x="847" y="601"/>
                  <a:pt x="564" y="528"/>
                  <a:pt x="423" y="52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
        <p:nvSpPr>
          <p:cNvPr id="191" name="Google Shape;191;p43"/>
          <p:cNvSpPr/>
          <p:nvPr/>
        </p:nvSpPr>
        <p:spPr>
          <a:xfrm>
            <a:off x="4685687" y="1710781"/>
            <a:ext cx="285935" cy="159748"/>
          </a:xfrm>
          <a:custGeom>
            <a:avLst/>
            <a:gdLst/>
            <a:ahLst/>
            <a:cxnLst/>
            <a:rect l="l" t="t" r="r" b="b"/>
            <a:pathLst>
              <a:path w="941" h="526" extrusionOk="0">
                <a:moveTo>
                  <a:pt x="0" y="316"/>
                </a:moveTo>
                <a:lnTo>
                  <a:pt x="105" y="316"/>
                </a:lnTo>
                <a:lnTo>
                  <a:pt x="105" y="212"/>
                </a:lnTo>
                <a:lnTo>
                  <a:pt x="0" y="212"/>
                </a:lnTo>
                <a:lnTo>
                  <a:pt x="0" y="316"/>
                </a:lnTo>
                <a:close/>
                <a:moveTo>
                  <a:pt x="0" y="525"/>
                </a:moveTo>
                <a:lnTo>
                  <a:pt x="105" y="525"/>
                </a:lnTo>
                <a:lnTo>
                  <a:pt x="105" y="421"/>
                </a:lnTo>
                <a:lnTo>
                  <a:pt x="0" y="421"/>
                </a:lnTo>
                <a:lnTo>
                  <a:pt x="0" y="525"/>
                </a:lnTo>
                <a:close/>
                <a:moveTo>
                  <a:pt x="0" y="105"/>
                </a:moveTo>
                <a:lnTo>
                  <a:pt x="105" y="105"/>
                </a:lnTo>
                <a:lnTo>
                  <a:pt x="105" y="0"/>
                </a:lnTo>
                <a:lnTo>
                  <a:pt x="0" y="0"/>
                </a:lnTo>
                <a:lnTo>
                  <a:pt x="0" y="105"/>
                </a:lnTo>
                <a:close/>
                <a:moveTo>
                  <a:pt x="209" y="316"/>
                </a:moveTo>
                <a:lnTo>
                  <a:pt x="940" y="316"/>
                </a:lnTo>
                <a:lnTo>
                  <a:pt x="940" y="212"/>
                </a:lnTo>
                <a:lnTo>
                  <a:pt x="209" y="212"/>
                </a:lnTo>
                <a:lnTo>
                  <a:pt x="209" y="316"/>
                </a:lnTo>
                <a:close/>
                <a:moveTo>
                  <a:pt x="209" y="525"/>
                </a:moveTo>
                <a:lnTo>
                  <a:pt x="940" y="525"/>
                </a:lnTo>
                <a:lnTo>
                  <a:pt x="940" y="421"/>
                </a:lnTo>
                <a:lnTo>
                  <a:pt x="209" y="421"/>
                </a:lnTo>
                <a:lnTo>
                  <a:pt x="209" y="525"/>
                </a:lnTo>
                <a:close/>
                <a:moveTo>
                  <a:pt x="209" y="0"/>
                </a:moveTo>
                <a:lnTo>
                  <a:pt x="209" y="105"/>
                </a:lnTo>
                <a:lnTo>
                  <a:pt x="940" y="105"/>
                </a:lnTo>
                <a:lnTo>
                  <a:pt x="940" y="0"/>
                </a:lnTo>
                <a:lnTo>
                  <a:pt x="209" y="0"/>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A4335"/>
        </a:solidFill>
        <a:effectLst/>
      </p:bgPr>
    </p:bg>
    <p:spTree>
      <p:nvGrpSpPr>
        <p:cNvPr id="1" name="Shape 195"/>
        <p:cNvGrpSpPr/>
        <p:nvPr/>
      </p:nvGrpSpPr>
      <p:grpSpPr>
        <a:xfrm>
          <a:off x="0" y="0"/>
          <a:ext cx="0" cy="0"/>
          <a:chOff x="0" y="0"/>
          <a:chExt cx="0" cy="0"/>
        </a:xfrm>
      </p:grpSpPr>
      <p:sp>
        <p:nvSpPr>
          <p:cNvPr id="196" name="Google Shape;196;p44"/>
          <p:cNvSpPr txBox="1"/>
          <p:nvPr/>
        </p:nvSpPr>
        <p:spPr>
          <a:xfrm>
            <a:off x="-460025" y="2082300"/>
            <a:ext cx="3704400" cy="9789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Understanding</a:t>
            </a:r>
            <a:endParaRPr sz="2400">
              <a:solidFill>
                <a:srgbClr val="FFFFFF"/>
              </a:solidFill>
              <a:latin typeface="Open Sans"/>
              <a:ea typeface="Open Sans"/>
              <a:cs typeface="Open Sans"/>
              <a:sym typeface="Open Sans"/>
            </a:endParaRPr>
          </a:p>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the user</a:t>
            </a:r>
            <a:endParaRPr sz="2400">
              <a:solidFill>
                <a:srgbClr val="FFFFFF"/>
              </a:solidFill>
              <a:latin typeface="Open Sans"/>
              <a:ea typeface="Open Sans"/>
              <a:cs typeface="Open Sans"/>
              <a:sym typeface="Open Sans"/>
            </a:endParaRPr>
          </a:p>
        </p:txBody>
      </p:sp>
      <p:sp>
        <p:nvSpPr>
          <p:cNvPr id="197" name="Google Shape;197;p44"/>
          <p:cNvSpPr txBox="1"/>
          <p:nvPr/>
        </p:nvSpPr>
        <p:spPr>
          <a:xfrm>
            <a:off x="3712425" y="1886850"/>
            <a:ext cx="3946500" cy="13698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User research</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Personas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Problem statements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User journey maps</a:t>
            </a:r>
            <a:endParaRPr>
              <a:solidFill>
                <a:srgbClr val="FFFFFF"/>
              </a:solidFill>
              <a:latin typeface="Open Sans"/>
              <a:ea typeface="Open Sans"/>
              <a:cs typeface="Open Sans"/>
              <a:sym typeface="Open Sans"/>
            </a:endParaRPr>
          </a:p>
        </p:txBody>
      </p:sp>
      <p:cxnSp>
        <p:nvCxnSpPr>
          <p:cNvPr id="198" name="Google Shape;198;p44"/>
          <p:cNvCxnSpPr/>
          <p:nvPr/>
        </p:nvCxnSpPr>
        <p:spPr>
          <a:xfrm>
            <a:off x="3460100" y="1032150"/>
            <a:ext cx="36600" cy="307920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5"/>
          <p:cNvSpPr/>
          <p:nvPr/>
        </p:nvSpPr>
        <p:spPr>
          <a:xfrm>
            <a:off x="517675" y="1832019"/>
            <a:ext cx="7938900" cy="25104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45"/>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User research: summary</a:t>
            </a:r>
            <a:endParaRPr sz="2400">
              <a:solidFill>
                <a:srgbClr val="5F6368"/>
              </a:solidFill>
              <a:latin typeface="Open Sans"/>
              <a:ea typeface="Open Sans"/>
              <a:cs typeface="Open Sans"/>
              <a:sym typeface="Open Sans"/>
            </a:endParaRPr>
          </a:p>
        </p:txBody>
      </p:sp>
      <p:sp>
        <p:nvSpPr>
          <p:cNvPr id="205" name="Google Shape;205;p45"/>
          <p:cNvSpPr txBox="1"/>
          <p:nvPr/>
        </p:nvSpPr>
        <p:spPr>
          <a:xfrm>
            <a:off x="919075" y="2461800"/>
            <a:ext cx="7136100" cy="1034099"/>
          </a:xfrm>
          <a:prstGeom prst="rect">
            <a:avLst/>
          </a:prstGeom>
          <a:noFill/>
          <a:ln>
            <a:noFill/>
          </a:ln>
        </p:spPr>
        <p:txBody>
          <a:bodyPr spcFirstLastPara="1" wrap="square" lIns="0" tIns="91425" rIns="91425" bIns="91425" anchor="t" anchorCtr="0">
            <a:spAutoFit/>
          </a:bodyPr>
          <a:lstStyle/>
          <a:p>
            <a:pPr lvl="0" algn="just">
              <a:lnSpc>
                <a:spcPct val="115000"/>
              </a:lnSpc>
            </a:pPr>
            <a:r>
              <a:rPr lang="en-US" sz="1200" dirty="0"/>
              <a:t>User research was conducted through informal interviews and observations. Initially, it was assumed that users mainly struggle with reporting lost items. However, research revealed that users also face difficulty in tracking item status and verifying ownership. This led to adding features like notifications and claim verification.</a:t>
            </a:r>
            <a:endParaRPr sz="1200" b="1" dirty="0">
              <a:solidFill>
                <a:srgbClr val="1967D2"/>
              </a:solidFill>
              <a:latin typeface="Open Sans"/>
              <a:ea typeface="Open Sans"/>
              <a:cs typeface="Open Sans"/>
              <a:sym typeface="Open Sans"/>
            </a:endParaRPr>
          </a:p>
        </p:txBody>
      </p:sp>
      <p:sp>
        <p:nvSpPr>
          <p:cNvPr id="206" name="Google Shape;206;p45"/>
          <p:cNvSpPr/>
          <p:nvPr/>
        </p:nvSpPr>
        <p:spPr>
          <a:xfrm>
            <a:off x="4230475" y="1602212"/>
            <a:ext cx="513300" cy="513300"/>
          </a:xfrm>
          <a:prstGeom prst="ellipse">
            <a:avLst/>
          </a:prstGeom>
          <a:solidFill>
            <a:srgbClr val="EA43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45"/>
          <p:cNvSpPr/>
          <p:nvPr/>
        </p:nvSpPr>
        <p:spPr>
          <a:xfrm>
            <a:off x="4373201" y="1744926"/>
            <a:ext cx="227849" cy="227849"/>
          </a:xfrm>
          <a:custGeom>
            <a:avLst/>
            <a:gdLst/>
            <a:ahLst/>
            <a:cxnLst/>
            <a:rect l="l" t="t" r="r" b="b"/>
            <a:pathLst>
              <a:path w="940" h="941" extrusionOk="0">
                <a:moveTo>
                  <a:pt x="835" y="0"/>
                </a:moveTo>
                <a:lnTo>
                  <a:pt x="104" y="0"/>
                </a:lnTo>
                <a:cubicBezTo>
                  <a:pt x="47" y="0"/>
                  <a:pt x="0" y="48"/>
                  <a:pt x="0" y="105"/>
                </a:cubicBezTo>
                <a:lnTo>
                  <a:pt x="0" y="835"/>
                </a:lnTo>
                <a:cubicBezTo>
                  <a:pt x="0" y="892"/>
                  <a:pt x="47" y="940"/>
                  <a:pt x="104" y="940"/>
                </a:cubicBezTo>
                <a:lnTo>
                  <a:pt x="835" y="940"/>
                </a:lnTo>
                <a:cubicBezTo>
                  <a:pt x="891" y="940"/>
                  <a:pt x="939" y="892"/>
                  <a:pt x="939" y="835"/>
                </a:cubicBezTo>
                <a:lnTo>
                  <a:pt x="939" y="105"/>
                </a:lnTo>
                <a:cubicBezTo>
                  <a:pt x="939" y="48"/>
                  <a:pt x="891" y="0"/>
                  <a:pt x="835" y="0"/>
                </a:cubicBezTo>
                <a:close/>
                <a:moveTo>
                  <a:pt x="313" y="734"/>
                </a:moveTo>
                <a:lnTo>
                  <a:pt x="208" y="734"/>
                </a:lnTo>
                <a:lnTo>
                  <a:pt x="208" y="367"/>
                </a:lnTo>
                <a:lnTo>
                  <a:pt x="313" y="367"/>
                </a:lnTo>
                <a:lnTo>
                  <a:pt x="313" y="734"/>
                </a:lnTo>
                <a:close/>
                <a:moveTo>
                  <a:pt x="522" y="734"/>
                </a:moveTo>
                <a:lnTo>
                  <a:pt x="417" y="734"/>
                </a:lnTo>
                <a:lnTo>
                  <a:pt x="417" y="212"/>
                </a:lnTo>
                <a:lnTo>
                  <a:pt x="522" y="212"/>
                </a:lnTo>
                <a:lnTo>
                  <a:pt x="522" y="734"/>
                </a:lnTo>
                <a:close/>
                <a:moveTo>
                  <a:pt x="730" y="734"/>
                </a:moveTo>
                <a:lnTo>
                  <a:pt x="626" y="734"/>
                </a:lnTo>
                <a:lnTo>
                  <a:pt x="626" y="525"/>
                </a:lnTo>
                <a:lnTo>
                  <a:pt x="730" y="525"/>
                </a:lnTo>
                <a:lnTo>
                  <a:pt x="730" y="7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6"/>
          <p:cNvSpPr txBox="1"/>
          <p:nvPr/>
        </p:nvSpPr>
        <p:spPr>
          <a:xfrm>
            <a:off x="517675" y="5243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User research: pain points</a:t>
            </a:r>
            <a:endParaRPr sz="2400">
              <a:solidFill>
                <a:srgbClr val="5F6368"/>
              </a:solidFill>
              <a:latin typeface="Open Sans"/>
              <a:ea typeface="Open Sans"/>
              <a:cs typeface="Open Sans"/>
              <a:sym typeface="Open Sans"/>
            </a:endParaRPr>
          </a:p>
        </p:txBody>
      </p:sp>
      <p:sp>
        <p:nvSpPr>
          <p:cNvPr id="213" name="Google Shape;213;p46"/>
          <p:cNvSpPr txBox="1"/>
          <p:nvPr/>
        </p:nvSpPr>
        <p:spPr>
          <a:xfrm>
            <a:off x="289509" y="1979572"/>
            <a:ext cx="2176532" cy="830966"/>
          </a:xfrm>
          <a:prstGeom prst="rect">
            <a:avLst/>
          </a:prstGeom>
          <a:noFill/>
          <a:ln>
            <a:noFill/>
          </a:ln>
        </p:spPr>
        <p:txBody>
          <a:bodyPr spcFirstLastPara="1" wrap="square" lIns="0" tIns="91425" rIns="91425" bIns="91425" anchor="t" anchorCtr="0">
            <a:spAutoFit/>
          </a:bodyPr>
          <a:lstStyle/>
          <a:p>
            <a:pPr lvl="0" algn="ctr">
              <a:lnSpc>
                <a:spcPct val="150000"/>
              </a:lnSpc>
            </a:pPr>
            <a:r>
              <a:rPr lang="en-US" dirty="0">
                <a:solidFill>
                  <a:srgbClr val="FF0000"/>
                </a:solidFill>
                <a:latin typeface="Open Sans SemiBold"/>
                <a:ea typeface="Open Sans SemiBold"/>
                <a:cs typeface="Open Sans SemiBold"/>
                <a:sym typeface="Open Sans SemiBold"/>
              </a:rPr>
              <a:t>Time-Consuming Manual Search</a:t>
            </a:r>
            <a:endParaRPr dirty="0">
              <a:solidFill>
                <a:srgbClr val="FF0000"/>
              </a:solidFill>
              <a:latin typeface="Open Sans SemiBold"/>
              <a:ea typeface="Open Sans SemiBold"/>
              <a:cs typeface="Open Sans SemiBold"/>
              <a:sym typeface="Open Sans SemiBold"/>
            </a:endParaRPr>
          </a:p>
        </p:txBody>
      </p:sp>
      <p:sp>
        <p:nvSpPr>
          <p:cNvPr id="214" name="Google Shape;214;p46"/>
          <p:cNvSpPr txBox="1"/>
          <p:nvPr/>
        </p:nvSpPr>
        <p:spPr>
          <a:xfrm>
            <a:off x="441475" y="2810538"/>
            <a:ext cx="1872600" cy="1458831"/>
          </a:xfrm>
          <a:prstGeom prst="rect">
            <a:avLst/>
          </a:prstGeom>
          <a:noFill/>
          <a:ln>
            <a:noFill/>
          </a:ln>
        </p:spPr>
        <p:txBody>
          <a:bodyPr spcFirstLastPara="1" wrap="square" lIns="0" tIns="91425" rIns="91425" bIns="91425" anchor="t" anchorCtr="0">
            <a:spAutoFit/>
          </a:bodyPr>
          <a:lstStyle/>
          <a:p>
            <a:pPr lvl="0" algn="ctr">
              <a:lnSpc>
                <a:spcPct val="115000"/>
              </a:lnSpc>
            </a:pPr>
            <a:r>
              <a:rPr lang="en-US" sz="1200" dirty="0">
                <a:solidFill>
                  <a:srgbClr val="5F6368"/>
                </a:solidFill>
                <a:latin typeface="Open Sans"/>
                <a:ea typeface="Open Sans"/>
                <a:cs typeface="Open Sans"/>
                <a:sym typeface="Open Sans"/>
              </a:rPr>
              <a:t>People often spend a lot of time physically searching different locations or asking others about lost belongings.</a:t>
            </a:r>
            <a:endParaRPr sz="1200" dirty="0"/>
          </a:p>
        </p:txBody>
      </p:sp>
      <p:sp>
        <p:nvSpPr>
          <p:cNvPr id="215" name="Google Shape;215;p46"/>
          <p:cNvSpPr txBox="1"/>
          <p:nvPr/>
        </p:nvSpPr>
        <p:spPr>
          <a:xfrm>
            <a:off x="2658705" y="2141154"/>
            <a:ext cx="1872600" cy="507801"/>
          </a:xfrm>
          <a:prstGeom prst="rect">
            <a:avLst/>
          </a:prstGeom>
          <a:noFill/>
          <a:ln>
            <a:noFill/>
          </a:ln>
        </p:spPr>
        <p:txBody>
          <a:bodyPr spcFirstLastPara="1" wrap="square" lIns="0" tIns="91425" rIns="91425" bIns="91425" anchor="t" anchorCtr="0">
            <a:spAutoFit/>
          </a:bodyPr>
          <a:lstStyle/>
          <a:p>
            <a:pPr lvl="0" algn="ctr">
              <a:lnSpc>
                <a:spcPct val="150000"/>
              </a:lnSpc>
            </a:pPr>
            <a:r>
              <a:rPr lang="en-US" dirty="0">
                <a:solidFill>
                  <a:srgbClr val="FF0000"/>
                </a:solidFill>
                <a:latin typeface="Open Sans SemiBold"/>
                <a:ea typeface="Open Sans SemiBold"/>
                <a:cs typeface="Open Sans SemiBold"/>
                <a:sym typeface="Open Sans SemiBold"/>
              </a:rPr>
              <a:t>Fake Claim Requests</a:t>
            </a:r>
            <a:endParaRPr dirty="0">
              <a:solidFill>
                <a:srgbClr val="FF0000"/>
              </a:solidFill>
              <a:latin typeface="Open Sans SemiBold"/>
              <a:ea typeface="Open Sans SemiBold"/>
              <a:cs typeface="Open Sans SemiBold"/>
              <a:sym typeface="Open Sans SemiBold"/>
            </a:endParaRPr>
          </a:p>
        </p:txBody>
      </p:sp>
      <p:sp>
        <p:nvSpPr>
          <p:cNvPr id="216" name="Google Shape;216;p46"/>
          <p:cNvSpPr txBox="1"/>
          <p:nvPr/>
        </p:nvSpPr>
        <p:spPr>
          <a:xfrm>
            <a:off x="2658705" y="2810538"/>
            <a:ext cx="1872600" cy="1034099"/>
          </a:xfrm>
          <a:prstGeom prst="rect">
            <a:avLst/>
          </a:prstGeom>
          <a:noFill/>
          <a:ln>
            <a:noFill/>
          </a:ln>
        </p:spPr>
        <p:txBody>
          <a:bodyPr spcFirstLastPara="1" wrap="square" lIns="0" tIns="91425" rIns="91425" bIns="91425" anchor="t" anchorCtr="0">
            <a:spAutoFit/>
          </a:bodyPr>
          <a:lstStyle/>
          <a:p>
            <a:pPr lvl="0" algn="ctr">
              <a:lnSpc>
                <a:spcPct val="115000"/>
              </a:lnSpc>
            </a:pPr>
            <a:r>
              <a:rPr lang="en-US" sz="1200" dirty="0">
                <a:solidFill>
                  <a:srgbClr val="5F6368"/>
                </a:solidFill>
                <a:latin typeface="Open Sans"/>
                <a:ea typeface="Open Sans"/>
                <a:cs typeface="Open Sans"/>
                <a:sym typeface="Open Sans"/>
              </a:rPr>
              <a:t>Some users may falsely claim ownership of found items, creating trust and security issues.</a:t>
            </a:r>
            <a:endParaRPr sz="1200" dirty="0"/>
          </a:p>
        </p:txBody>
      </p:sp>
      <p:sp>
        <p:nvSpPr>
          <p:cNvPr id="217" name="Google Shape;217;p46"/>
          <p:cNvSpPr txBox="1"/>
          <p:nvPr/>
        </p:nvSpPr>
        <p:spPr>
          <a:xfrm>
            <a:off x="4723969" y="2008850"/>
            <a:ext cx="1872600" cy="830966"/>
          </a:xfrm>
          <a:prstGeom prst="rect">
            <a:avLst/>
          </a:prstGeom>
          <a:noFill/>
          <a:ln>
            <a:noFill/>
          </a:ln>
        </p:spPr>
        <p:txBody>
          <a:bodyPr spcFirstLastPara="1" wrap="square" lIns="0" tIns="91425" rIns="91425" bIns="91425" anchor="t" anchorCtr="0">
            <a:spAutoFit/>
          </a:bodyPr>
          <a:lstStyle/>
          <a:p>
            <a:pPr lvl="0" algn="ctr">
              <a:lnSpc>
                <a:spcPct val="150000"/>
              </a:lnSpc>
            </a:pPr>
            <a:r>
              <a:rPr lang="en-US" dirty="0">
                <a:solidFill>
                  <a:srgbClr val="EA4335"/>
                </a:solidFill>
                <a:latin typeface="Open Sans SemiBold"/>
                <a:ea typeface="Open Sans SemiBold"/>
                <a:cs typeface="Open Sans SemiBold"/>
                <a:sym typeface="Open Sans SemiBold"/>
              </a:rPr>
              <a:t>Difficulty Finding Matching Items</a:t>
            </a:r>
            <a:endParaRPr dirty="0">
              <a:solidFill>
                <a:srgbClr val="4285F4"/>
              </a:solidFill>
              <a:latin typeface="Open Sans SemiBold"/>
              <a:ea typeface="Open Sans SemiBold"/>
              <a:cs typeface="Open Sans SemiBold"/>
              <a:sym typeface="Open Sans SemiBold"/>
            </a:endParaRPr>
          </a:p>
        </p:txBody>
      </p:sp>
      <p:sp>
        <p:nvSpPr>
          <p:cNvPr id="218" name="Google Shape;218;p46"/>
          <p:cNvSpPr txBox="1"/>
          <p:nvPr/>
        </p:nvSpPr>
        <p:spPr>
          <a:xfrm>
            <a:off x="4761962" y="2839816"/>
            <a:ext cx="1872600" cy="1246465"/>
          </a:xfrm>
          <a:prstGeom prst="rect">
            <a:avLst/>
          </a:prstGeom>
          <a:noFill/>
          <a:ln>
            <a:noFill/>
          </a:ln>
        </p:spPr>
        <p:txBody>
          <a:bodyPr spcFirstLastPara="1" wrap="square" lIns="0" tIns="91425" rIns="91425" bIns="91425" anchor="t" anchorCtr="0">
            <a:spAutoFit/>
          </a:bodyPr>
          <a:lstStyle/>
          <a:p>
            <a:pPr lvl="0" algn="ctr">
              <a:lnSpc>
                <a:spcPct val="115000"/>
              </a:lnSpc>
            </a:pPr>
            <a:r>
              <a:rPr lang="en-US" sz="1200" dirty="0">
                <a:solidFill>
                  <a:srgbClr val="5F6368"/>
                </a:solidFill>
                <a:latin typeface="Open Sans"/>
                <a:ea typeface="Open Sans"/>
                <a:cs typeface="Open Sans"/>
                <a:sym typeface="Open Sans"/>
              </a:rPr>
              <a:t>Users struggle to identify whether a found item matches their lost item because of incomplete information.</a:t>
            </a:r>
            <a:endParaRPr sz="1200" dirty="0"/>
          </a:p>
        </p:txBody>
      </p:sp>
      <p:sp>
        <p:nvSpPr>
          <p:cNvPr id="219" name="Google Shape;219;p46"/>
          <p:cNvSpPr txBox="1"/>
          <p:nvPr/>
        </p:nvSpPr>
        <p:spPr>
          <a:xfrm>
            <a:off x="6865219" y="2008850"/>
            <a:ext cx="1872600" cy="830966"/>
          </a:xfrm>
          <a:prstGeom prst="rect">
            <a:avLst/>
          </a:prstGeom>
          <a:noFill/>
          <a:ln>
            <a:noFill/>
          </a:ln>
        </p:spPr>
        <p:txBody>
          <a:bodyPr spcFirstLastPara="1" wrap="square" lIns="0" tIns="91425" rIns="91425" bIns="91425" anchor="t" anchorCtr="0">
            <a:spAutoFit/>
          </a:bodyPr>
          <a:lstStyle/>
          <a:p>
            <a:pPr lvl="0" algn="ctr">
              <a:lnSpc>
                <a:spcPct val="150000"/>
              </a:lnSpc>
            </a:pPr>
            <a:r>
              <a:rPr lang="en-US" dirty="0">
                <a:solidFill>
                  <a:srgbClr val="EA4335"/>
                </a:solidFill>
                <a:latin typeface="Open Sans SemiBold"/>
                <a:ea typeface="Open Sans SemiBold"/>
                <a:cs typeface="Open Sans SemiBold"/>
                <a:sym typeface="Open Sans SemiBold"/>
              </a:rPr>
              <a:t>Delayed Verification Process</a:t>
            </a:r>
            <a:endParaRPr dirty="0">
              <a:solidFill>
                <a:srgbClr val="4285F4"/>
              </a:solidFill>
              <a:latin typeface="Open Sans SemiBold"/>
              <a:ea typeface="Open Sans SemiBold"/>
              <a:cs typeface="Open Sans SemiBold"/>
              <a:sym typeface="Open Sans SemiBold"/>
            </a:endParaRPr>
          </a:p>
        </p:txBody>
      </p:sp>
      <p:sp>
        <p:nvSpPr>
          <p:cNvPr id="220" name="Google Shape;220;p46"/>
          <p:cNvSpPr txBox="1"/>
          <p:nvPr/>
        </p:nvSpPr>
        <p:spPr>
          <a:xfrm>
            <a:off x="6865219" y="2810538"/>
            <a:ext cx="1872600" cy="1034099"/>
          </a:xfrm>
          <a:prstGeom prst="rect">
            <a:avLst/>
          </a:prstGeom>
          <a:noFill/>
          <a:ln>
            <a:noFill/>
          </a:ln>
        </p:spPr>
        <p:txBody>
          <a:bodyPr spcFirstLastPara="1" wrap="square" lIns="0" tIns="91425" rIns="91425" bIns="91425" anchor="t" anchorCtr="0">
            <a:spAutoFit/>
          </a:bodyPr>
          <a:lstStyle/>
          <a:p>
            <a:pPr lvl="0" algn="ctr">
              <a:lnSpc>
                <a:spcPct val="115000"/>
              </a:lnSpc>
            </a:pPr>
            <a:r>
              <a:rPr lang="en-US" sz="1200" dirty="0">
                <a:solidFill>
                  <a:srgbClr val="5F6368"/>
                </a:solidFill>
                <a:latin typeface="Open Sans"/>
                <a:ea typeface="Open Sans"/>
                <a:cs typeface="Open Sans"/>
                <a:sym typeface="Open Sans"/>
              </a:rPr>
              <a:t>Manual verification by administrators can delay the return of items to their rightful owners.</a:t>
            </a:r>
            <a:endParaRPr sz="1200" dirty="0"/>
          </a:p>
        </p:txBody>
      </p:sp>
      <p:sp>
        <p:nvSpPr>
          <p:cNvPr id="221" name="Google Shape;221;p46"/>
          <p:cNvSpPr/>
          <p:nvPr/>
        </p:nvSpPr>
        <p:spPr>
          <a:xfrm>
            <a:off x="1121125" y="1382121"/>
            <a:ext cx="513300" cy="513300"/>
          </a:xfrm>
          <a:prstGeom prst="ellipse">
            <a:avLst/>
          </a:prstGeom>
          <a:solidFill>
            <a:srgbClr val="EA4335"/>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1</a:t>
            </a:r>
            <a:endParaRPr sz="2200">
              <a:solidFill>
                <a:srgbClr val="FFFFFF"/>
              </a:solidFill>
              <a:latin typeface="Google Sans Medium"/>
              <a:ea typeface="Google Sans Medium"/>
              <a:cs typeface="Google Sans Medium"/>
              <a:sym typeface="Google Sans Medium"/>
            </a:endParaRPr>
          </a:p>
        </p:txBody>
      </p:sp>
      <p:sp>
        <p:nvSpPr>
          <p:cNvPr id="222" name="Google Shape;222;p46"/>
          <p:cNvSpPr/>
          <p:nvPr/>
        </p:nvSpPr>
        <p:spPr>
          <a:xfrm>
            <a:off x="3338355" y="1382121"/>
            <a:ext cx="513300" cy="513300"/>
          </a:xfrm>
          <a:prstGeom prst="ellipse">
            <a:avLst/>
          </a:prstGeom>
          <a:solidFill>
            <a:srgbClr val="EA4335"/>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dirty="0">
                <a:solidFill>
                  <a:srgbClr val="FFFFFF"/>
                </a:solidFill>
                <a:latin typeface="Google Sans Medium"/>
                <a:ea typeface="Google Sans Medium"/>
                <a:cs typeface="Google Sans Medium"/>
                <a:sym typeface="Google Sans Medium"/>
              </a:rPr>
              <a:t>2</a:t>
            </a:r>
            <a:endParaRPr sz="2200" dirty="0">
              <a:solidFill>
                <a:srgbClr val="FFFFFF"/>
              </a:solidFill>
              <a:latin typeface="Google Sans Medium"/>
              <a:ea typeface="Google Sans Medium"/>
              <a:cs typeface="Google Sans Medium"/>
              <a:sym typeface="Google Sans Medium"/>
            </a:endParaRPr>
          </a:p>
        </p:txBody>
      </p:sp>
      <p:sp>
        <p:nvSpPr>
          <p:cNvPr id="223" name="Google Shape;223;p46"/>
          <p:cNvSpPr/>
          <p:nvPr/>
        </p:nvSpPr>
        <p:spPr>
          <a:xfrm>
            <a:off x="5403625" y="1382121"/>
            <a:ext cx="513300" cy="513300"/>
          </a:xfrm>
          <a:prstGeom prst="ellipse">
            <a:avLst/>
          </a:prstGeom>
          <a:solidFill>
            <a:srgbClr val="EA4335"/>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3</a:t>
            </a:r>
            <a:endParaRPr sz="2200">
              <a:solidFill>
                <a:srgbClr val="FFFFFF"/>
              </a:solidFill>
              <a:latin typeface="Google Sans Medium"/>
              <a:ea typeface="Google Sans Medium"/>
              <a:cs typeface="Google Sans Medium"/>
              <a:sym typeface="Google Sans Medium"/>
            </a:endParaRPr>
          </a:p>
        </p:txBody>
      </p:sp>
      <p:sp>
        <p:nvSpPr>
          <p:cNvPr id="224" name="Google Shape;224;p46"/>
          <p:cNvSpPr/>
          <p:nvPr/>
        </p:nvSpPr>
        <p:spPr>
          <a:xfrm>
            <a:off x="7544875" y="1382121"/>
            <a:ext cx="513300" cy="513300"/>
          </a:xfrm>
          <a:prstGeom prst="ellipse">
            <a:avLst/>
          </a:prstGeom>
          <a:solidFill>
            <a:srgbClr val="EA4335"/>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4</a:t>
            </a:r>
            <a:endParaRPr sz="2200">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7"/>
          <p:cNvSpPr txBox="1"/>
          <p:nvPr/>
        </p:nvSpPr>
        <p:spPr>
          <a:xfrm>
            <a:off x="517675" y="524350"/>
            <a:ext cx="61086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5F6368"/>
                </a:solidFill>
                <a:latin typeface="Open Sans"/>
                <a:ea typeface="Open Sans"/>
                <a:cs typeface="Open Sans"/>
                <a:sym typeface="Open Sans"/>
              </a:rPr>
              <a:t>Persona: </a:t>
            </a:r>
            <a:r>
              <a:rPr lang="en" sz="2400" b="1" dirty="0">
                <a:solidFill>
                  <a:srgbClr val="5F6368"/>
                </a:solidFill>
                <a:latin typeface="Open Sans"/>
                <a:ea typeface="Open Sans"/>
                <a:cs typeface="Open Sans"/>
                <a:sym typeface="Open Sans"/>
              </a:rPr>
              <a:t>Hania Ahmed</a:t>
            </a:r>
            <a:endParaRPr sz="2400" b="1" dirty="0">
              <a:solidFill>
                <a:srgbClr val="5F6368"/>
              </a:solidFill>
              <a:latin typeface="Open Sans"/>
              <a:ea typeface="Open Sans"/>
              <a:cs typeface="Open Sans"/>
              <a:sym typeface="Open Sans"/>
            </a:endParaRPr>
          </a:p>
        </p:txBody>
      </p:sp>
      <p:sp>
        <p:nvSpPr>
          <p:cNvPr id="231" name="Google Shape;231;p47"/>
          <p:cNvSpPr txBox="1"/>
          <p:nvPr/>
        </p:nvSpPr>
        <p:spPr>
          <a:xfrm>
            <a:off x="517675" y="1674400"/>
            <a:ext cx="2184600" cy="2608376"/>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EA4335"/>
                </a:solidFill>
                <a:latin typeface="Open Sans SemiBold"/>
                <a:ea typeface="Open Sans SemiBold"/>
                <a:cs typeface="Open Sans SemiBold"/>
                <a:sym typeface="Open Sans SemiBold"/>
              </a:rPr>
              <a:t>Problem statement:</a:t>
            </a:r>
            <a:endParaRPr dirty="0">
              <a:solidFill>
                <a:srgbClr val="EA4335"/>
              </a:solidFill>
              <a:latin typeface="Open Sans SemiBold"/>
              <a:ea typeface="Open Sans SemiBold"/>
              <a:cs typeface="Open Sans SemiBold"/>
              <a:sym typeface="Open Sans SemiBold"/>
            </a:endParaRPr>
          </a:p>
          <a:p>
            <a:pPr lvl="0">
              <a:lnSpc>
                <a:spcPct val="150000"/>
              </a:lnSpc>
            </a:pPr>
            <a:r>
              <a:rPr lang="en-US" sz="1300" dirty="0"/>
              <a:t>Hania is a busy university student who needs a simple and secure way to report and recover lost items because traditional lost-and-found methods are slow, unorganized, and unreliable.</a:t>
            </a:r>
            <a:endParaRPr sz="1300" dirty="0"/>
          </a:p>
        </p:txBody>
      </p:sp>
      <p:pic>
        <p:nvPicPr>
          <p:cNvPr id="3" name="Picture 2">
            <a:extLst>
              <a:ext uri="{FF2B5EF4-FFF2-40B4-BE49-F238E27FC236}">
                <a16:creationId xmlns:a16="http://schemas.microsoft.com/office/drawing/2014/main" xmlns="" id="{40D81CDF-3EE0-A2BD-A90D-3B68E564C4A1}"/>
              </a:ext>
            </a:extLst>
          </p:cNvPr>
          <p:cNvPicPr>
            <a:picLocks noChangeAspect="1"/>
          </p:cNvPicPr>
          <p:nvPr/>
        </p:nvPicPr>
        <p:blipFill>
          <a:blip r:embed="rId3"/>
          <a:stretch>
            <a:fillRect/>
          </a:stretch>
        </p:blipFill>
        <p:spPr>
          <a:xfrm>
            <a:off x="3172570" y="1245427"/>
            <a:ext cx="5594186" cy="3166054"/>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8"/>
          <p:cNvSpPr/>
          <p:nvPr/>
        </p:nvSpPr>
        <p:spPr>
          <a:xfrm>
            <a:off x="3421294" y="524350"/>
            <a:ext cx="5505180" cy="42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48"/>
          <p:cNvSpPr txBox="1"/>
          <p:nvPr/>
        </p:nvSpPr>
        <p:spPr>
          <a:xfrm>
            <a:off x="517675" y="247300"/>
            <a:ext cx="61086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User journey map</a:t>
            </a:r>
            <a:endParaRPr sz="2400" dirty="0">
              <a:solidFill>
                <a:srgbClr val="5F6368"/>
              </a:solidFill>
              <a:latin typeface="Open Sans"/>
              <a:ea typeface="Open Sans"/>
              <a:cs typeface="Open Sans"/>
              <a:sym typeface="Open Sans"/>
            </a:endParaRPr>
          </a:p>
        </p:txBody>
      </p:sp>
      <p:sp>
        <p:nvSpPr>
          <p:cNvPr id="238" name="Google Shape;238;p48"/>
          <p:cNvSpPr txBox="1"/>
          <p:nvPr/>
        </p:nvSpPr>
        <p:spPr>
          <a:xfrm>
            <a:off x="6011725" y="2294700"/>
            <a:ext cx="13323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5F6368"/>
                </a:solidFill>
                <a:latin typeface="Open Sans"/>
                <a:ea typeface="Open Sans"/>
                <a:cs typeface="Open Sans"/>
                <a:sym typeface="Open Sans"/>
              </a:rPr>
              <a:t>Image of user journey map</a:t>
            </a:r>
            <a:endParaRPr sz="1200">
              <a:solidFill>
                <a:srgbClr val="5F6368"/>
              </a:solidFill>
              <a:latin typeface="Open Sans"/>
              <a:ea typeface="Open Sans"/>
              <a:cs typeface="Open Sans"/>
              <a:sym typeface="Open Sans"/>
            </a:endParaRPr>
          </a:p>
        </p:txBody>
      </p:sp>
      <p:sp>
        <p:nvSpPr>
          <p:cNvPr id="239" name="Google Shape;239;p48"/>
          <p:cNvSpPr txBox="1"/>
          <p:nvPr/>
        </p:nvSpPr>
        <p:spPr>
          <a:xfrm>
            <a:off x="174661" y="796773"/>
            <a:ext cx="3246633" cy="3947204"/>
          </a:xfrm>
          <a:prstGeom prst="rect">
            <a:avLst/>
          </a:prstGeom>
          <a:noFill/>
          <a:ln>
            <a:noFill/>
          </a:ln>
        </p:spPr>
        <p:txBody>
          <a:bodyPr spcFirstLastPara="1" wrap="square" lIns="0" tIns="91425" rIns="91425" bIns="91425" anchor="t" anchorCtr="0">
            <a:spAutoFit/>
          </a:bodyPr>
          <a:lstStyle/>
          <a:p>
            <a:pPr lvl="0">
              <a:lnSpc>
                <a:spcPct val="150000"/>
              </a:lnSpc>
              <a:buClr>
                <a:schemeClr val="dk1"/>
              </a:buClr>
              <a:buSzPts val="1100"/>
            </a:pPr>
            <a:r>
              <a:rPr lang="en" dirty="0" smtClean="0">
                <a:solidFill>
                  <a:srgbClr val="5F6368"/>
                </a:solidFill>
                <a:latin typeface="Open Sans"/>
                <a:ea typeface="Open Sans"/>
                <a:cs typeface="Open Sans"/>
                <a:sym typeface="Open Sans"/>
              </a:rPr>
              <a:t>[</a:t>
            </a:r>
            <a:r>
              <a:rPr lang="en-US" sz="1350" smtClean="0">
                <a:solidFill>
                  <a:srgbClr val="5F6368"/>
                </a:solidFill>
                <a:latin typeface="Open Sans"/>
                <a:ea typeface="Open Sans"/>
                <a:cs typeface="Open Sans"/>
                <a:sym typeface="Open Sans"/>
              </a:rPr>
              <a:t>Hania </a:t>
            </a:r>
            <a:r>
              <a:rPr lang="en-US" sz="1350" dirty="0">
                <a:solidFill>
                  <a:srgbClr val="5F6368"/>
                </a:solidFill>
                <a:latin typeface="Open Sans"/>
                <a:ea typeface="Open Sans"/>
                <a:cs typeface="Open Sans"/>
                <a:sym typeface="Open Sans"/>
              </a:rPr>
              <a:t>wants a fast and reliable way to recover her lost belongings without wasting time searching manually. She expects the system to be simple, secure, and easy to navigate. During the journey, her emotions change from stress and confusion to relief after successful verification and item recovery. The design focuses on improving trust, reducing delays, and making communication between users and admins smoother.</a:t>
            </a:r>
            <a:r>
              <a:rPr lang="en" dirty="0" smtClean="0">
                <a:solidFill>
                  <a:srgbClr val="5F6368"/>
                </a:solidFill>
                <a:latin typeface="Open Sans"/>
                <a:ea typeface="Open Sans"/>
                <a:cs typeface="Open Sans"/>
                <a:sym typeface="Open Sans"/>
              </a:rPr>
              <a:t>]</a:t>
            </a:r>
            <a:endParaRPr dirty="0"/>
          </a:p>
        </p:txBody>
      </p:sp>
      <p:pic>
        <p:nvPicPr>
          <p:cNvPr id="3" name="Picture 2"/>
          <p:cNvPicPr>
            <a:picLocks noChangeAspect="1"/>
          </p:cNvPicPr>
          <p:nvPr/>
        </p:nvPicPr>
        <p:blipFill>
          <a:blip r:embed="rId3"/>
          <a:stretch>
            <a:fillRect/>
          </a:stretch>
        </p:blipFill>
        <p:spPr>
          <a:xfrm>
            <a:off x="3406578" y="519723"/>
            <a:ext cx="5519896" cy="42196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9900"/>
        </a:solidFill>
        <a:effectLst/>
      </p:bgPr>
    </p:bg>
    <p:spTree>
      <p:nvGrpSpPr>
        <p:cNvPr id="1" name="Shape 243"/>
        <p:cNvGrpSpPr/>
        <p:nvPr/>
      </p:nvGrpSpPr>
      <p:grpSpPr>
        <a:xfrm>
          <a:off x="0" y="0"/>
          <a:ext cx="0" cy="0"/>
          <a:chOff x="0" y="0"/>
          <a:chExt cx="0" cy="0"/>
        </a:xfrm>
      </p:grpSpPr>
      <p:sp>
        <p:nvSpPr>
          <p:cNvPr id="244" name="Google Shape;244;p49"/>
          <p:cNvSpPr txBox="1"/>
          <p:nvPr/>
        </p:nvSpPr>
        <p:spPr>
          <a:xfrm>
            <a:off x="3721275" y="1886850"/>
            <a:ext cx="6302100" cy="13698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Paper wireframes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Digital wireframes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Low-fidelity prototype</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Usability studies</a:t>
            </a:r>
            <a:endParaRPr>
              <a:solidFill>
                <a:srgbClr val="FFFFFF"/>
              </a:solidFill>
              <a:latin typeface="Open Sans"/>
              <a:ea typeface="Open Sans"/>
              <a:cs typeface="Open Sans"/>
              <a:sym typeface="Open Sans"/>
            </a:endParaRPr>
          </a:p>
        </p:txBody>
      </p:sp>
      <p:sp>
        <p:nvSpPr>
          <p:cNvPr id="245" name="Google Shape;245;p49"/>
          <p:cNvSpPr txBox="1"/>
          <p:nvPr/>
        </p:nvSpPr>
        <p:spPr>
          <a:xfrm>
            <a:off x="-468875" y="2082300"/>
            <a:ext cx="3704400" cy="9789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Clr>
                <a:schemeClr val="dk1"/>
              </a:buClr>
              <a:buSzPts val="1100"/>
              <a:buFont typeface="Arial"/>
              <a:buNone/>
            </a:pPr>
            <a:r>
              <a:rPr lang="en" sz="2400">
                <a:solidFill>
                  <a:srgbClr val="FFFFFF"/>
                </a:solidFill>
                <a:latin typeface="Open Sans"/>
                <a:ea typeface="Open Sans"/>
                <a:cs typeface="Open Sans"/>
                <a:sym typeface="Open Sans"/>
              </a:rPr>
              <a:t>Starting</a:t>
            </a:r>
            <a:endParaRPr sz="2400">
              <a:solidFill>
                <a:srgbClr val="FFFFFF"/>
              </a:solidFill>
              <a:latin typeface="Open Sans"/>
              <a:ea typeface="Open Sans"/>
              <a:cs typeface="Open Sans"/>
              <a:sym typeface="Open Sans"/>
            </a:endParaRPr>
          </a:p>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the design</a:t>
            </a:r>
            <a:endParaRPr sz="2400">
              <a:solidFill>
                <a:srgbClr val="FFFFFF"/>
              </a:solidFill>
              <a:latin typeface="Open Sans"/>
              <a:ea typeface="Open Sans"/>
              <a:cs typeface="Open Sans"/>
              <a:sym typeface="Open Sans"/>
            </a:endParaRPr>
          </a:p>
        </p:txBody>
      </p:sp>
      <p:cxnSp>
        <p:nvCxnSpPr>
          <p:cNvPr id="246" name="Google Shape;246;p49"/>
          <p:cNvCxnSpPr/>
          <p:nvPr/>
        </p:nvCxnSpPr>
        <p:spPr>
          <a:xfrm>
            <a:off x="3460100" y="1032150"/>
            <a:ext cx="36600" cy="307920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50"/>
          <p:cNvSpPr/>
          <p:nvPr/>
        </p:nvSpPr>
        <p:spPr>
          <a:xfrm>
            <a:off x="2809876" y="524350"/>
            <a:ext cx="6084700" cy="42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0"/>
          <p:cNvSpPr txBox="1"/>
          <p:nvPr/>
        </p:nvSpPr>
        <p:spPr>
          <a:xfrm>
            <a:off x="231925" y="524350"/>
            <a:ext cx="70008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Paper wireframes </a:t>
            </a:r>
            <a:endParaRPr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endParaRPr>
          </a:p>
        </p:txBody>
      </p:sp>
      <p:sp>
        <p:nvSpPr>
          <p:cNvPr id="253" name="Google Shape;253;p50"/>
          <p:cNvSpPr txBox="1"/>
          <p:nvPr/>
        </p:nvSpPr>
        <p:spPr>
          <a:xfrm>
            <a:off x="231925" y="1078450"/>
            <a:ext cx="2503324" cy="3416290"/>
          </a:xfrm>
          <a:prstGeom prst="rect">
            <a:avLst/>
          </a:prstGeom>
          <a:noFill/>
          <a:ln>
            <a:noFill/>
          </a:ln>
        </p:spPr>
        <p:txBody>
          <a:bodyPr spcFirstLastPara="1" wrap="square" lIns="0" tIns="91425" rIns="91425" bIns="91425" anchor="t" anchorCtr="0">
            <a:spAutoFit/>
          </a:bodyPr>
          <a:lstStyle/>
          <a:p>
            <a:pPr lvl="0">
              <a:lnSpc>
                <a:spcPct val="150000"/>
              </a:lnSpc>
              <a:buClr>
                <a:schemeClr val="dk1"/>
              </a:buClr>
              <a:buSzPts val="1100"/>
            </a:pPr>
            <a:r>
              <a:rPr lang="en-US" dirty="0"/>
              <a:t>Paper wireframes were created to quickly explore different layout ideas for the application. The focus was on simple navigation, easy item reporting, and quick access to search functionality. Multiple layout variations were tested before selecting the most user-friendly design</a:t>
            </a:r>
            <a:r>
              <a:rPr lang="en"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a:t>
            </a:r>
            <a:endParaRPr dirty="0">
              <a:latin typeface="Tahoma" panose="020B0604030504040204" pitchFamily="34" charset="0"/>
              <a:ea typeface="Tahoma" panose="020B0604030504040204" pitchFamily="34" charset="0"/>
              <a:cs typeface="Tahoma" panose="020B060403050404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6306" y="884012"/>
            <a:ext cx="1727474" cy="3495675"/>
          </a:xfrm>
          <a:prstGeom prst="rect">
            <a:avLst/>
          </a:prstGeom>
          <a:ln>
            <a:solidFill>
              <a:schemeClr val="accent1"/>
            </a:solidFill>
          </a:ln>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9781" y="884012"/>
            <a:ext cx="1549293" cy="3495675"/>
          </a:xfrm>
          <a:prstGeom prst="rect">
            <a:avLst/>
          </a:prstGeom>
          <a:ln>
            <a:solidFill>
              <a:schemeClr val="accent1"/>
            </a:solidFill>
          </a:ln>
        </p:spPr>
      </p:pic>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5075" y="884012"/>
            <a:ext cx="1742097" cy="3495675"/>
          </a:xfrm>
          <a:prstGeom prst="rect">
            <a:avLst/>
          </a:prstGeom>
          <a:ln>
            <a:solidFill>
              <a:schemeClr val="accent1"/>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083" y="704850"/>
            <a:ext cx="1626828" cy="3438524"/>
          </a:xfrm>
          <a:prstGeom prst="rect">
            <a:avLst/>
          </a:prstGeom>
          <a:ln>
            <a:solidFill>
              <a:schemeClr val="accent1"/>
            </a:solidFill>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8456" y="704850"/>
            <a:ext cx="1654875" cy="3438524"/>
          </a:xfrm>
          <a:prstGeom prst="rect">
            <a:avLst/>
          </a:prstGeom>
          <a:ln>
            <a:solidFill>
              <a:schemeClr val="accent1"/>
            </a:solidFill>
          </a:ln>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3876" y="704850"/>
            <a:ext cx="1672551" cy="3438524"/>
          </a:xfrm>
          <a:prstGeom prst="rect">
            <a:avLst/>
          </a:prstGeom>
          <a:ln>
            <a:solidFill>
              <a:schemeClr val="accent1"/>
            </a:solidFill>
          </a:ln>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6972" y="711024"/>
            <a:ext cx="1625003" cy="3432350"/>
          </a:xfrm>
          <a:prstGeom prst="rect">
            <a:avLst/>
          </a:prstGeom>
          <a:ln>
            <a:solidFill>
              <a:schemeClr val="accent1"/>
            </a:solidFill>
          </a:ln>
        </p:spPr>
      </p:pic>
    </p:spTree>
    <p:extLst>
      <p:ext uri="{BB962C8B-B14F-4D97-AF65-F5344CB8AC3E}">
        <p14:creationId xmlns:p14="http://schemas.microsoft.com/office/powerpoint/2010/main" val="2831193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953" y="704850"/>
            <a:ext cx="1753986" cy="3600450"/>
          </a:xfrm>
          <a:prstGeom prst="rect">
            <a:avLst/>
          </a:prstGeom>
          <a:ln>
            <a:solidFill>
              <a:schemeClr val="accent1"/>
            </a:solidFill>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293" y="704850"/>
            <a:ext cx="1828507" cy="3604438"/>
          </a:xfrm>
          <a:prstGeom prst="rect">
            <a:avLst/>
          </a:prstGeom>
          <a:ln>
            <a:solidFill>
              <a:schemeClr val="accent1"/>
            </a:solidFill>
          </a:ln>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3154" y="704850"/>
            <a:ext cx="1730713" cy="3600450"/>
          </a:xfrm>
          <a:prstGeom prst="rect">
            <a:avLst/>
          </a:prstGeom>
          <a:ln>
            <a:solidFill>
              <a:schemeClr val="accent1"/>
            </a:solidFill>
          </a:ln>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1221" y="742950"/>
            <a:ext cx="1822377" cy="3600450"/>
          </a:xfrm>
          <a:prstGeom prst="rect">
            <a:avLst/>
          </a:prstGeom>
          <a:ln>
            <a:solidFill>
              <a:schemeClr val="accent1"/>
            </a:solidFill>
          </a:ln>
        </p:spPr>
      </p:pic>
    </p:spTree>
    <p:extLst>
      <p:ext uri="{BB962C8B-B14F-4D97-AF65-F5344CB8AC3E}">
        <p14:creationId xmlns:p14="http://schemas.microsoft.com/office/powerpoint/2010/main" val="286202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3"/>
          <p:cNvSpPr/>
          <p:nvPr/>
        </p:nvSpPr>
        <p:spPr>
          <a:xfrm>
            <a:off x="3174715" y="524350"/>
            <a:ext cx="5774075" cy="42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53"/>
          <p:cNvSpPr txBox="1"/>
          <p:nvPr/>
        </p:nvSpPr>
        <p:spPr>
          <a:xfrm>
            <a:off x="164387" y="524350"/>
            <a:ext cx="7354088" cy="609367"/>
          </a:xfrm>
          <a:prstGeom prst="rect">
            <a:avLst/>
          </a:prstGeom>
          <a:noFill/>
          <a:ln>
            <a:noFill/>
          </a:ln>
        </p:spPr>
        <p:txBody>
          <a:bodyPr spcFirstLastPara="1" wrap="square" lIns="0" tIns="91425" rIns="91425" bIns="91425" anchor="t" anchorCtr="0">
            <a:spAutoFit/>
          </a:bodyPr>
          <a:lstStyle/>
          <a:p>
            <a:pPr marL="0" lvl="0" indent="0" algn="l" rtl="0">
              <a:lnSpc>
                <a:spcPct val="115000"/>
              </a:lnSpc>
              <a:spcBef>
                <a:spcPts val="0"/>
              </a:spcBef>
              <a:spcAft>
                <a:spcPts val="0"/>
              </a:spcAft>
              <a:buNone/>
            </a:pPr>
            <a:r>
              <a:rPr lang="en"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Low-fidelity prototype</a:t>
            </a:r>
            <a:endParaRPr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endParaRPr>
          </a:p>
        </p:txBody>
      </p:sp>
      <p:sp>
        <p:nvSpPr>
          <p:cNvPr id="286" name="Google Shape;286;p53"/>
          <p:cNvSpPr txBox="1"/>
          <p:nvPr/>
        </p:nvSpPr>
        <p:spPr>
          <a:xfrm>
            <a:off x="164387" y="1205335"/>
            <a:ext cx="2784296" cy="1661963"/>
          </a:xfrm>
          <a:prstGeom prst="rect">
            <a:avLst/>
          </a:prstGeom>
          <a:noFill/>
          <a:ln>
            <a:noFill/>
          </a:ln>
        </p:spPr>
        <p:txBody>
          <a:bodyPr spcFirstLastPara="1" wrap="square" lIns="0" tIns="91425" rIns="91425" bIns="91425" anchor="t" anchorCtr="0">
            <a:spAutoFit/>
          </a:bodyPr>
          <a:lstStyle/>
          <a:p>
            <a:pPr lvl="0">
              <a:lnSpc>
                <a:spcPct val="150000"/>
              </a:lnSpc>
            </a:pPr>
            <a:r>
              <a:rPr lang="en"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[Link: </a:t>
            </a:r>
            <a:r>
              <a:rPr lang="en-US" sz="105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hlinkClick r:id="rId3"/>
              </a:rPr>
              <a:t>https://www.figma.com/design/1cwamnj4WCgFwjFPlwiT9p/HCI_Assigmnet05?node-id=0-1&amp;t=GdCGOHp1o8c2Xxuj-1</a:t>
            </a:r>
            <a:r>
              <a:rPr lang="en-US" sz="105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 </a:t>
            </a:r>
            <a:r>
              <a:rPr lang="en"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a:t>
            </a:r>
            <a:endParaRPr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endParaRPr>
          </a:p>
          <a:p>
            <a:pPr marL="0" lvl="0" indent="0" algn="l" rtl="0">
              <a:lnSpc>
                <a:spcPct val="150000"/>
              </a:lnSpc>
              <a:spcBef>
                <a:spcPts val="0"/>
              </a:spcBef>
              <a:spcAft>
                <a:spcPts val="0"/>
              </a:spcAft>
              <a:buNone/>
            </a:pPr>
            <a:endParaRPr dirty="0">
              <a:latin typeface="Tahoma" panose="020B0604030504040204" pitchFamily="34" charset="0"/>
              <a:ea typeface="Tahoma" panose="020B0604030504040204" pitchFamily="34" charset="0"/>
              <a:cs typeface="Tahoma" panose="020B0604030504040204" pitchFamily="34" charset="0"/>
              <a:sym typeface="Open Sans"/>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36906" y="740942"/>
            <a:ext cx="1701817" cy="3781816"/>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9040" y="740942"/>
            <a:ext cx="1701817" cy="3781816"/>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74772" y="740942"/>
            <a:ext cx="1701817" cy="37818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5521" y="636998"/>
            <a:ext cx="1654139" cy="367586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4255" y="636998"/>
            <a:ext cx="1654139" cy="3675864"/>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16787" y="636998"/>
            <a:ext cx="1654139" cy="3675864"/>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58053" y="636998"/>
            <a:ext cx="1654139" cy="3675864"/>
          </a:xfrm>
          <a:prstGeom prst="rect">
            <a:avLst/>
          </a:prstGeom>
        </p:spPr>
      </p:pic>
    </p:spTree>
    <p:extLst>
      <p:ext uri="{BB962C8B-B14F-4D97-AF65-F5344CB8AC3E}">
        <p14:creationId xmlns:p14="http://schemas.microsoft.com/office/powerpoint/2010/main" val="76359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3" y="482885"/>
            <a:ext cx="1654139" cy="367586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3198" y="482885"/>
            <a:ext cx="1654139" cy="367586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25013" y="482885"/>
            <a:ext cx="1654138" cy="3675864"/>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6827" y="482885"/>
            <a:ext cx="1653739" cy="3674976"/>
          </a:xfrm>
          <a:prstGeom prst="rect">
            <a:avLst/>
          </a:prstGeom>
        </p:spPr>
      </p:pic>
    </p:spTree>
    <p:extLst>
      <p:ext uri="{BB962C8B-B14F-4D97-AF65-F5344CB8AC3E}">
        <p14:creationId xmlns:p14="http://schemas.microsoft.com/office/powerpoint/2010/main" val="3885100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54"/>
          <p:cNvSpPr txBox="1"/>
          <p:nvPr/>
        </p:nvSpPr>
        <p:spPr>
          <a:xfrm>
            <a:off x="517675" y="448150"/>
            <a:ext cx="6155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5F6368"/>
                </a:solidFill>
                <a:latin typeface="Open Sans"/>
                <a:ea typeface="Open Sans"/>
                <a:cs typeface="Open Sans"/>
                <a:sym typeface="Open Sans"/>
              </a:rPr>
              <a:t>Usability study: findings</a:t>
            </a:r>
            <a:endParaRPr sz="2400" dirty="0">
              <a:solidFill>
                <a:srgbClr val="5F6368"/>
              </a:solidFill>
              <a:latin typeface="Open Sans"/>
              <a:ea typeface="Open Sans"/>
              <a:cs typeface="Open Sans"/>
              <a:sym typeface="Open Sans"/>
            </a:endParaRPr>
          </a:p>
        </p:txBody>
      </p:sp>
      <p:sp>
        <p:nvSpPr>
          <p:cNvPr id="292" name="Google Shape;292;p54"/>
          <p:cNvSpPr txBox="1"/>
          <p:nvPr/>
        </p:nvSpPr>
        <p:spPr>
          <a:xfrm>
            <a:off x="541149" y="933784"/>
            <a:ext cx="8245041" cy="927916"/>
          </a:xfrm>
          <a:prstGeom prst="rect">
            <a:avLst/>
          </a:prstGeom>
          <a:noFill/>
          <a:ln>
            <a:noFill/>
          </a:ln>
        </p:spPr>
        <p:txBody>
          <a:bodyPr spcFirstLastPara="1" wrap="square" lIns="0" tIns="91425" rIns="91425" bIns="91425" anchor="t" anchorCtr="0">
            <a:spAutoFit/>
          </a:bodyPr>
          <a:lstStyle/>
          <a:p>
            <a:pPr lvl="0" algn="just">
              <a:lnSpc>
                <a:spcPct val="115000"/>
              </a:lnSpc>
            </a:pPr>
            <a:r>
              <a:rPr lang="en-US" dirty="0"/>
              <a:t>Two rounds of usability studies were conducted with regular users to evaluate the ease of reporting items, searching for lost belongings, and understanding the claim process. Feedback from participants helped improve navigation, simplify forms, and make important features more visible.</a:t>
            </a:r>
            <a:endParaRPr dirty="0">
              <a:solidFill>
                <a:srgbClr val="5F6368"/>
              </a:solidFill>
              <a:latin typeface="Open Sans"/>
              <a:ea typeface="Open Sans"/>
              <a:cs typeface="Open Sans"/>
              <a:sym typeface="Open Sans"/>
            </a:endParaRPr>
          </a:p>
        </p:txBody>
      </p:sp>
      <p:sp>
        <p:nvSpPr>
          <p:cNvPr id="293" name="Google Shape;293;p54"/>
          <p:cNvSpPr txBox="1"/>
          <p:nvPr/>
        </p:nvSpPr>
        <p:spPr>
          <a:xfrm>
            <a:off x="456675" y="2022575"/>
            <a:ext cx="3336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29900"/>
                </a:solidFill>
                <a:latin typeface="Open Sans"/>
                <a:ea typeface="Open Sans"/>
                <a:cs typeface="Open Sans"/>
                <a:sym typeface="Open Sans"/>
              </a:rPr>
              <a:t>Round 1 findings</a:t>
            </a:r>
            <a:endParaRPr b="1">
              <a:solidFill>
                <a:srgbClr val="F29900"/>
              </a:solidFill>
            </a:endParaRPr>
          </a:p>
        </p:txBody>
      </p:sp>
      <p:sp>
        <p:nvSpPr>
          <p:cNvPr id="294" name="Google Shape;294;p54"/>
          <p:cNvSpPr/>
          <p:nvPr/>
        </p:nvSpPr>
        <p:spPr>
          <a:xfrm>
            <a:off x="4477900" y="2422775"/>
            <a:ext cx="3775800" cy="20637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54"/>
          <p:cNvSpPr txBox="1"/>
          <p:nvPr/>
        </p:nvSpPr>
        <p:spPr>
          <a:xfrm>
            <a:off x="4984525" y="2568500"/>
            <a:ext cx="3336000" cy="43239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Navigation bar was added.</a:t>
            </a:r>
            <a:endParaRPr dirty="0"/>
          </a:p>
        </p:txBody>
      </p:sp>
      <p:sp>
        <p:nvSpPr>
          <p:cNvPr id="296" name="Google Shape;296;p54"/>
          <p:cNvSpPr/>
          <p:nvPr/>
        </p:nvSpPr>
        <p:spPr>
          <a:xfrm>
            <a:off x="4671550" y="2631198"/>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1</a:t>
            </a:r>
            <a:endParaRPr>
              <a:solidFill>
                <a:srgbClr val="FFFFFF"/>
              </a:solidFill>
              <a:latin typeface="Google Sans Medium"/>
              <a:ea typeface="Google Sans Medium"/>
              <a:cs typeface="Google Sans Medium"/>
              <a:sym typeface="Google Sans Medium"/>
            </a:endParaRPr>
          </a:p>
        </p:txBody>
      </p:sp>
      <p:sp>
        <p:nvSpPr>
          <p:cNvPr id="297" name="Google Shape;297;p54"/>
          <p:cNvSpPr txBox="1"/>
          <p:nvPr/>
        </p:nvSpPr>
        <p:spPr>
          <a:xfrm>
            <a:off x="4984525" y="3198325"/>
            <a:ext cx="3336000" cy="43239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Logout button placement was improved.</a:t>
            </a:r>
            <a:endParaRPr dirty="0"/>
          </a:p>
        </p:txBody>
      </p:sp>
      <p:sp>
        <p:nvSpPr>
          <p:cNvPr id="298" name="Google Shape;298;p54"/>
          <p:cNvSpPr/>
          <p:nvPr/>
        </p:nvSpPr>
        <p:spPr>
          <a:xfrm>
            <a:off x="4671550" y="3261023"/>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2</a:t>
            </a:r>
            <a:endParaRPr>
              <a:solidFill>
                <a:srgbClr val="FFFFFF"/>
              </a:solidFill>
              <a:latin typeface="Google Sans Medium"/>
              <a:ea typeface="Google Sans Medium"/>
              <a:cs typeface="Google Sans Medium"/>
              <a:sym typeface="Google Sans Medium"/>
            </a:endParaRPr>
          </a:p>
        </p:txBody>
      </p:sp>
      <p:sp>
        <p:nvSpPr>
          <p:cNvPr id="299" name="Google Shape;299;p54"/>
          <p:cNvSpPr txBox="1"/>
          <p:nvPr/>
        </p:nvSpPr>
        <p:spPr>
          <a:xfrm>
            <a:off x="4416900" y="2022575"/>
            <a:ext cx="33360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F29900"/>
                </a:solidFill>
                <a:latin typeface="Open Sans"/>
                <a:ea typeface="Open Sans"/>
                <a:cs typeface="Open Sans"/>
                <a:sym typeface="Open Sans"/>
              </a:rPr>
              <a:t>Round 2 findings</a:t>
            </a:r>
            <a:endParaRPr b="1">
              <a:solidFill>
                <a:srgbClr val="F29900"/>
              </a:solidFill>
            </a:endParaRPr>
          </a:p>
        </p:txBody>
      </p:sp>
      <p:sp>
        <p:nvSpPr>
          <p:cNvPr id="300" name="Google Shape;300;p54"/>
          <p:cNvSpPr txBox="1"/>
          <p:nvPr/>
        </p:nvSpPr>
        <p:spPr>
          <a:xfrm>
            <a:off x="4937363" y="3828150"/>
            <a:ext cx="3336000" cy="43239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Interface became more user-friendly.</a:t>
            </a:r>
            <a:endParaRPr dirty="0"/>
          </a:p>
        </p:txBody>
      </p:sp>
      <p:sp>
        <p:nvSpPr>
          <p:cNvPr id="301" name="Google Shape;301;p54"/>
          <p:cNvSpPr/>
          <p:nvPr/>
        </p:nvSpPr>
        <p:spPr>
          <a:xfrm>
            <a:off x="4671538" y="3890848"/>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3</a:t>
            </a:r>
            <a:endParaRPr>
              <a:solidFill>
                <a:srgbClr val="FFFFFF"/>
              </a:solidFill>
              <a:latin typeface="Google Sans Medium"/>
              <a:ea typeface="Google Sans Medium"/>
              <a:cs typeface="Google Sans Medium"/>
              <a:sym typeface="Google Sans Medium"/>
            </a:endParaRPr>
          </a:p>
        </p:txBody>
      </p:sp>
      <p:sp>
        <p:nvSpPr>
          <p:cNvPr id="302" name="Google Shape;302;p54"/>
          <p:cNvSpPr/>
          <p:nvPr/>
        </p:nvSpPr>
        <p:spPr>
          <a:xfrm>
            <a:off x="456675" y="2422775"/>
            <a:ext cx="3775800" cy="20637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54"/>
          <p:cNvSpPr txBox="1"/>
          <p:nvPr/>
        </p:nvSpPr>
        <p:spPr>
          <a:xfrm>
            <a:off x="988688" y="2561340"/>
            <a:ext cx="3336000" cy="43239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Logout button was hard to find.</a:t>
            </a:r>
            <a:endParaRPr dirty="0"/>
          </a:p>
        </p:txBody>
      </p:sp>
      <p:sp>
        <p:nvSpPr>
          <p:cNvPr id="304" name="Google Shape;304;p54"/>
          <p:cNvSpPr/>
          <p:nvPr/>
        </p:nvSpPr>
        <p:spPr>
          <a:xfrm>
            <a:off x="650325" y="2631198"/>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1</a:t>
            </a:r>
            <a:endParaRPr>
              <a:solidFill>
                <a:srgbClr val="FFFFFF"/>
              </a:solidFill>
              <a:latin typeface="Google Sans Medium"/>
              <a:ea typeface="Google Sans Medium"/>
              <a:cs typeface="Google Sans Medium"/>
              <a:sym typeface="Google Sans Medium"/>
            </a:endParaRPr>
          </a:p>
        </p:txBody>
      </p:sp>
      <p:sp>
        <p:nvSpPr>
          <p:cNvPr id="305" name="Google Shape;305;p54"/>
          <p:cNvSpPr txBox="1"/>
          <p:nvPr/>
        </p:nvSpPr>
        <p:spPr>
          <a:xfrm>
            <a:off x="963300" y="3188775"/>
            <a:ext cx="3336000" cy="43239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No navigation bar for easy movement.</a:t>
            </a:r>
            <a:endParaRPr dirty="0"/>
          </a:p>
        </p:txBody>
      </p:sp>
      <p:sp>
        <p:nvSpPr>
          <p:cNvPr id="306" name="Google Shape;306;p54"/>
          <p:cNvSpPr/>
          <p:nvPr/>
        </p:nvSpPr>
        <p:spPr>
          <a:xfrm>
            <a:off x="650325" y="3261023"/>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2</a:t>
            </a:r>
            <a:endParaRPr>
              <a:solidFill>
                <a:srgbClr val="FFFFFF"/>
              </a:solidFill>
              <a:latin typeface="Google Sans Medium"/>
              <a:ea typeface="Google Sans Medium"/>
              <a:cs typeface="Google Sans Medium"/>
              <a:sym typeface="Google Sans Medium"/>
            </a:endParaRPr>
          </a:p>
        </p:txBody>
      </p:sp>
      <p:sp>
        <p:nvSpPr>
          <p:cNvPr id="307" name="Google Shape;307;p54"/>
          <p:cNvSpPr txBox="1"/>
          <p:nvPr/>
        </p:nvSpPr>
        <p:spPr>
          <a:xfrm>
            <a:off x="963300" y="3828148"/>
            <a:ext cx="3269175" cy="680156"/>
          </a:xfrm>
          <a:prstGeom prst="rect">
            <a:avLst/>
          </a:prstGeom>
          <a:noFill/>
          <a:ln>
            <a:noFill/>
          </a:ln>
        </p:spPr>
        <p:txBody>
          <a:bodyPr spcFirstLastPara="1" wrap="square" lIns="91425" tIns="91425" rIns="91425" bIns="91425" anchor="t" anchorCtr="0">
            <a:spAutoFit/>
          </a:bodyPr>
          <a:lstStyle/>
          <a:p>
            <a:pPr lvl="0">
              <a:lnSpc>
                <a:spcPct val="115000"/>
              </a:lnSpc>
            </a:pPr>
            <a:r>
              <a:rPr lang="en-US" dirty="0"/>
              <a:t>Some users were confused about the item claim verification process.</a:t>
            </a:r>
            <a:endParaRPr dirty="0"/>
          </a:p>
        </p:txBody>
      </p:sp>
      <p:sp>
        <p:nvSpPr>
          <p:cNvPr id="308" name="Google Shape;308;p54"/>
          <p:cNvSpPr/>
          <p:nvPr/>
        </p:nvSpPr>
        <p:spPr>
          <a:xfrm>
            <a:off x="650313" y="3890848"/>
            <a:ext cx="274800" cy="274800"/>
          </a:xfrm>
          <a:prstGeom prst="ellipse">
            <a:avLst/>
          </a:prstGeom>
          <a:solidFill>
            <a:srgbClr val="F29900"/>
          </a:solidFill>
          <a:ln>
            <a:noFill/>
          </a:ln>
        </p:spPr>
        <p:txBody>
          <a:bodyPr spcFirstLastPara="1" wrap="square" lIns="0" tIns="0" rIns="0" bIns="0" anchor="ctr" anchorCtr="0">
            <a:noAutofit/>
          </a:bodyPr>
          <a:lstStyle/>
          <a:p>
            <a:pPr marL="0" lvl="0" indent="0" algn="ctr" rtl="0">
              <a:spcBef>
                <a:spcPts val="0"/>
              </a:spcBef>
              <a:spcAft>
                <a:spcPts val="0"/>
              </a:spcAft>
              <a:buNone/>
            </a:pPr>
            <a:r>
              <a:rPr lang="en">
                <a:solidFill>
                  <a:srgbClr val="FFFFFF"/>
                </a:solidFill>
                <a:latin typeface="Google Sans Medium"/>
                <a:ea typeface="Google Sans Medium"/>
                <a:cs typeface="Google Sans Medium"/>
                <a:sym typeface="Google Sans Medium"/>
              </a:rPr>
              <a:t>3</a:t>
            </a:r>
            <a:endParaRPr>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A853"/>
        </a:solidFill>
        <a:effectLst/>
      </p:bgPr>
    </p:bg>
    <p:spTree>
      <p:nvGrpSpPr>
        <p:cNvPr id="1" name="Shape 312"/>
        <p:cNvGrpSpPr/>
        <p:nvPr/>
      </p:nvGrpSpPr>
      <p:grpSpPr>
        <a:xfrm>
          <a:off x="0" y="0"/>
          <a:ext cx="0" cy="0"/>
          <a:chOff x="0" y="0"/>
          <a:chExt cx="0" cy="0"/>
        </a:xfrm>
      </p:grpSpPr>
      <p:sp>
        <p:nvSpPr>
          <p:cNvPr id="313" name="Google Shape;313;p55"/>
          <p:cNvSpPr txBox="1"/>
          <p:nvPr/>
        </p:nvSpPr>
        <p:spPr>
          <a:xfrm>
            <a:off x="3721275" y="2048400"/>
            <a:ext cx="3990000" cy="10467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Mockups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High-fidelity prototype</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Accessibility</a:t>
            </a:r>
            <a:endParaRPr>
              <a:solidFill>
                <a:srgbClr val="FFFFFF"/>
              </a:solidFill>
              <a:latin typeface="Open Sans"/>
              <a:ea typeface="Open Sans"/>
              <a:cs typeface="Open Sans"/>
              <a:sym typeface="Open Sans"/>
            </a:endParaRPr>
          </a:p>
        </p:txBody>
      </p:sp>
      <p:sp>
        <p:nvSpPr>
          <p:cNvPr id="314" name="Google Shape;314;p55"/>
          <p:cNvSpPr txBox="1"/>
          <p:nvPr/>
        </p:nvSpPr>
        <p:spPr>
          <a:xfrm>
            <a:off x="-468875" y="2082300"/>
            <a:ext cx="3704400" cy="9789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Refining</a:t>
            </a:r>
            <a:endParaRPr sz="2400">
              <a:solidFill>
                <a:srgbClr val="FFFFFF"/>
              </a:solidFill>
              <a:latin typeface="Open Sans"/>
              <a:ea typeface="Open Sans"/>
              <a:cs typeface="Open Sans"/>
              <a:sym typeface="Open Sans"/>
            </a:endParaRPr>
          </a:p>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the design</a:t>
            </a:r>
            <a:endParaRPr sz="2400">
              <a:solidFill>
                <a:srgbClr val="FFFFFF"/>
              </a:solidFill>
              <a:latin typeface="Open Sans"/>
              <a:ea typeface="Open Sans"/>
              <a:cs typeface="Open Sans"/>
              <a:sym typeface="Open Sans"/>
            </a:endParaRPr>
          </a:p>
        </p:txBody>
      </p:sp>
      <p:cxnSp>
        <p:nvCxnSpPr>
          <p:cNvPr id="315" name="Google Shape;315;p55"/>
          <p:cNvCxnSpPr/>
          <p:nvPr/>
        </p:nvCxnSpPr>
        <p:spPr>
          <a:xfrm>
            <a:off x="3460100" y="1032150"/>
            <a:ext cx="36600" cy="307920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56"/>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dirty="0">
                <a:solidFill>
                  <a:srgbClr val="5F6368"/>
                </a:solidFill>
                <a:latin typeface="Open Sans"/>
                <a:ea typeface="Open Sans"/>
                <a:cs typeface="Open Sans"/>
                <a:sym typeface="Open Sans"/>
              </a:rPr>
              <a:t>Mockups</a:t>
            </a:r>
            <a:endParaRPr sz="2400" dirty="0">
              <a:solidFill>
                <a:srgbClr val="5F6368"/>
              </a:solidFill>
              <a:latin typeface="Open Sans"/>
              <a:ea typeface="Open Sans"/>
              <a:cs typeface="Open Sans"/>
              <a:sym typeface="Open Sans"/>
            </a:endParaRPr>
          </a:p>
        </p:txBody>
      </p:sp>
      <p:sp>
        <p:nvSpPr>
          <p:cNvPr id="321" name="Google Shape;321;p56"/>
          <p:cNvSpPr txBox="1"/>
          <p:nvPr/>
        </p:nvSpPr>
        <p:spPr>
          <a:xfrm>
            <a:off x="580446" y="1013666"/>
            <a:ext cx="3039446" cy="2985402"/>
          </a:xfrm>
          <a:prstGeom prst="rect">
            <a:avLst/>
          </a:prstGeom>
          <a:noFill/>
          <a:ln>
            <a:noFill/>
          </a:ln>
        </p:spPr>
        <p:txBody>
          <a:bodyPr spcFirstLastPara="1" wrap="square" lIns="0" tIns="91425" rIns="91425" bIns="91425" anchor="t" anchorCtr="0">
            <a:spAutoFit/>
          </a:bodyPr>
          <a:lstStyle/>
          <a:p>
            <a:pPr>
              <a:lnSpc>
                <a:spcPct val="150000"/>
              </a:lnSpc>
            </a:pPr>
            <a:r>
              <a:rPr lang="en-US" b="1" dirty="0"/>
              <a:t>Before Usability Study</a:t>
            </a:r>
          </a:p>
          <a:p>
            <a:pPr marL="285750" indent="-285750">
              <a:buFont typeface="Arial" panose="020B0604020202020204" pitchFamily="34" charset="0"/>
              <a:buChar char="•"/>
            </a:pPr>
            <a:r>
              <a:rPr lang="en-US" dirty="0"/>
              <a:t>No navigation bar for switching pages.</a:t>
            </a:r>
          </a:p>
          <a:p>
            <a:pPr marL="285750" indent="-285750">
              <a:buFont typeface="Arial" panose="020B0604020202020204" pitchFamily="34" charset="0"/>
              <a:buChar char="•"/>
            </a:pPr>
            <a:r>
              <a:rPr lang="en-US" dirty="0"/>
              <a:t>Logout option not easily visible. </a:t>
            </a:r>
          </a:p>
          <a:p>
            <a:pPr marL="285750" indent="-285750">
              <a:buFont typeface="Arial" panose="020B0604020202020204" pitchFamily="34" charset="0"/>
              <a:buChar char="•"/>
            </a:pPr>
            <a:r>
              <a:rPr lang="en-US" dirty="0"/>
              <a:t>Overall layout looked cluttered. </a:t>
            </a:r>
          </a:p>
          <a:p>
            <a:pPr>
              <a:lnSpc>
                <a:spcPct val="150000"/>
              </a:lnSpc>
            </a:pPr>
            <a:r>
              <a:rPr lang="en-US" b="1" dirty="0"/>
              <a:t>After Usability Study</a:t>
            </a:r>
          </a:p>
          <a:p>
            <a:pPr marL="285750" indent="-285750">
              <a:buFont typeface="Arial" panose="020B0604020202020204" pitchFamily="34" charset="0"/>
              <a:buChar char="•"/>
            </a:pPr>
            <a:r>
              <a:rPr lang="en-US" dirty="0"/>
              <a:t>Navigation bar added for easy page switching </a:t>
            </a:r>
          </a:p>
          <a:p>
            <a:pPr marL="285750" indent="-285750">
              <a:buFont typeface="Arial" panose="020B0604020202020204" pitchFamily="34" charset="0"/>
              <a:buChar char="•"/>
            </a:pPr>
            <a:r>
              <a:rPr lang="en-US" dirty="0"/>
              <a:t>Logout button made visible and accessible </a:t>
            </a:r>
          </a:p>
          <a:p>
            <a:pPr marL="285750" indent="-285750">
              <a:buFont typeface="Arial" panose="020B0604020202020204" pitchFamily="34" charset="0"/>
              <a:buChar char="•"/>
            </a:pPr>
            <a:r>
              <a:rPr lang="en-US" dirty="0"/>
              <a:t>Cleaner and more structured dashboard layout.</a:t>
            </a:r>
          </a:p>
        </p:txBody>
      </p:sp>
      <p:sp>
        <p:nvSpPr>
          <p:cNvPr id="322" name="Google Shape;322;p56"/>
          <p:cNvSpPr/>
          <p:nvPr/>
        </p:nvSpPr>
        <p:spPr>
          <a:xfrm>
            <a:off x="3908188" y="1250000"/>
            <a:ext cx="1467992" cy="3174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56"/>
          <p:cNvSpPr txBox="1"/>
          <p:nvPr/>
        </p:nvSpPr>
        <p:spPr>
          <a:xfrm>
            <a:off x="4008525" y="2393750"/>
            <a:ext cx="12390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5F6368"/>
                </a:solidFill>
                <a:latin typeface="Open Sans"/>
                <a:ea typeface="Open Sans"/>
                <a:cs typeface="Open Sans"/>
                <a:sym typeface="Open Sans"/>
              </a:rPr>
              <a:t>Image of selected screen before usability study</a:t>
            </a:r>
            <a:endParaRPr sz="1200">
              <a:solidFill>
                <a:srgbClr val="5F6368"/>
              </a:solidFill>
              <a:latin typeface="Open Sans"/>
              <a:ea typeface="Open Sans"/>
              <a:cs typeface="Open Sans"/>
              <a:sym typeface="Open Sans"/>
            </a:endParaRPr>
          </a:p>
        </p:txBody>
      </p:sp>
      <p:sp>
        <p:nvSpPr>
          <p:cNvPr id="324" name="Google Shape;324;p56"/>
          <p:cNvSpPr/>
          <p:nvPr/>
        </p:nvSpPr>
        <p:spPr>
          <a:xfrm>
            <a:off x="6950496" y="1268300"/>
            <a:ext cx="1466181" cy="3174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5" name="Google Shape;325;p56"/>
          <p:cNvCxnSpPr/>
          <p:nvPr/>
        </p:nvCxnSpPr>
        <p:spPr>
          <a:xfrm>
            <a:off x="5749763" y="2855450"/>
            <a:ext cx="812100" cy="0"/>
          </a:xfrm>
          <a:prstGeom prst="straightConnector1">
            <a:avLst/>
          </a:prstGeom>
          <a:noFill/>
          <a:ln w="28575" cap="flat" cmpd="sng">
            <a:solidFill>
              <a:srgbClr val="34A853"/>
            </a:solidFill>
            <a:prstDash val="solid"/>
            <a:round/>
            <a:headEnd type="none" w="med" len="med"/>
            <a:tailEnd type="triangle" w="med" len="med"/>
          </a:ln>
        </p:spPr>
      </p:cxnSp>
      <p:sp>
        <p:nvSpPr>
          <p:cNvPr id="326" name="Google Shape;326;p56"/>
          <p:cNvSpPr txBox="1"/>
          <p:nvPr/>
        </p:nvSpPr>
        <p:spPr>
          <a:xfrm>
            <a:off x="3451125" y="853300"/>
            <a:ext cx="23538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34A853"/>
                </a:solidFill>
                <a:latin typeface="Open Sans"/>
                <a:ea typeface="Open Sans"/>
                <a:cs typeface="Open Sans"/>
                <a:sym typeface="Open Sans"/>
              </a:rPr>
              <a:t>Before usability study</a:t>
            </a:r>
            <a:endParaRPr sz="1200">
              <a:solidFill>
                <a:srgbClr val="34A853"/>
              </a:solidFill>
              <a:latin typeface="Open Sans"/>
              <a:ea typeface="Open Sans"/>
              <a:cs typeface="Open Sans"/>
              <a:sym typeface="Open Sans"/>
            </a:endParaRPr>
          </a:p>
          <a:p>
            <a:pPr marL="0" lvl="0" indent="0" algn="l" rtl="0">
              <a:spcBef>
                <a:spcPts val="0"/>
              </a:spcBef>
              <a:spcAft>
                <a:spcPts val="0"/>
              </a:spcAft>
              <a:buNone/>
            </a:pPr>
            <a:endParaRPr>
              <a:solidFill>
                <a:srgbClr val="1967D2"/>
              </a:solidFill>
            </a:endParaRPr>
          </a:p>
        </p:txBody>
      </p:sp>
      <p:sp>
        <p:nvSpPr>
          <p:cNvPr id="327" name="Google Shape;327;p56"/>
          <p:cNvSpPr txBox="1"/>
          <p:nvPr/>
        </p:nvSpPr>
        <p:spPr>
          <a:xfrm>
            <a:off x="6506700" y="853300"/>
            <a:ext cx="23538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34A853"/>
                </a:solidFill>
                <a:latin typeface="Open Sans"/>
                <a:ea typeface="Open Sans"/>
                <a:cs typeface="Open Sans"/>
                <a:sym typeface="Open Sans"/>
              </a:rPr>
              <a:t>After usability study</a:t>
            </a:r>
            <a:endParaRPr sz="1200">
              <a:solidFill>
                <a:srgbClr val="34A853"/>
              </a:solidFill>
              <a:latin typeface="Open Sans"/>
              <a:ea typeface="Open Sans"/>
              <a:cs typeface="Open Sans"/>
              <a:sym typeface="Open Sans"/>
            </a:endParaRPr>
          </a:p>
          <a:p>
            <a:pPr marL="0" lvl="0" indent="0" algn="l" rtl="0">
              <a:spcBef>
                <a:spcPts val="0"/>
              </a:spcBef>
              <a:spcAft>
                <a:spcPts val="0"/>
              </a:spcAft>
              <a:buNone/>
            </a:pPr>
            <a:endParaRPr>
              <a:solidFill>
                <a:srgbClr val="1967D2"/>
              </a:solidFill>
            </a:endParaRPr>
          </a:p>
        </p:txBody>
      </p:sp>
      <p:sp>
        <p:nvSpPr>
          <p:cNvPr id="328" name="Google Shape;328;p56"/>
          <p:cNvSpPr txBox="1"/>
          <p:nvPr/>
        </p:nvSpPr>
        <p:spPr>
          <a:xfrm>
            <a:off x="7064125" y="2393750"/>
            <a:ext cx="12390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5F6368"/>
                </a:solidFill>
                <a:latin typeface="Open Sans"/>
                <a:ea typeface="Open Sans"/>
                <a:cs typeface="Open Sans"/>
                <a:sym typeface="Open Sans"/>
              </a:rPr>
              <a:t>Image of selected screen after usability study</a:t>
            </a:r>
            <a:endParaRPr sz="1200">
              <a:solidFill>
                <a:srgbClr val="5F6368"/>
              </a:solidFill>
              <a:latin typeface="Open Sans"/>
              <a:ea typeface="Open Sans"/>
              <a:cs typeface="Open Sans"/>
              <a:sym typeface="Open Sans"/>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8188" y="1250001"/>
            <a:ext cx="1467992" cy="317430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50497" y="1250000"/>
            <a:ext cx="1466181" cy="3174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7"/>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Mockups</a:t>
            </a:r>
            <a:endParaRPr sz="2400">
              <a:solidFill>
                <a:srgbClr val="5F6368"/>
              </a:solidFill>
              <a:latin typeface="Open Sans"/>
              <a:ea typeface="Open Sans"/>
              <a:cs typeface="Open Sans"/>
              <a:sym typeface="Open Sans"/>
            </a:endParaRPr>
          </a:p>
        </p:txBody>
      </p:sp>
      <p:sp>
        <p:nvSpPr>
          <p:cNvPr id="334" name="Google Shape;334;p57"/>
          <p:cNvSpPr txBox="1"/>
          <p:nvPr/>
        </p:nvSpPr>
        <p:spPr>
          <a:xfrm>
            <a:off x="483277" y="1074099"/>
            <a:ext cx="3203535" cy="3524011"/>
          </a:xfrm>
          <a:prstGeom prst="rect">
            <a:avLst/>
          </a:prstGeom>
          <a:noFill/>
          <a:ln>
            <a:noFill/>
          </a:ln>
        </p:spPr>
        <p:txBody>
          <a:bodyPr spcFirstLastPara="1" wrap="square" lIns="0" tIns="91425" rIns="91425" bIns="91425" anchor="t" anchorCtr="0">
            <a:spAutoFit/>
          </a:bodyPr>
          <a:lstStyle/>
          <a:p>
            <a:r>
              <a:rPr lang="en-US" b="1" dirty="0"/>
              <a:t>Before Usability Study</a:t>
            </a:r>
          </a:p>
          <a:p>
            <a:pPr marL="285750" indent="-285750">
              <a:buFont typeface="Arial" panose="020B0604020202020204" pitchFamily="34" charset="0"/>
              <a:buChar char="•"/>
            </a:pPr>
            <a:r>
              <a:rPr lang="en-US" dirty="0"/>
              <a:t>Form fields were overcrowded and not properly structured. </a:t>
            </a:r>
          </a:p>
          <a:p>
            <a:pPr marL="285750" indent="-285750">
              <a:buFont typeface="Arial" panose="020B0604020202020204" pitchFamily="34" charset="0"/>
              <a:buChar char="•"/>
            </a:pPr>
            <a:r>
              <a:rPr lang="en-US" dirty="0"/>
              <a:t>Only item name was visible, making it hard to understand full details. </a:t>
            </a:r>
          </a:p>
          <a:p>
            <a:pPr marL="285750" indent="-285750">
              <a:buFont typeface="Arial" panose="020B0604020202020204" pitchFamily="34" charset="0"/>
              <a:buChar char="•"/>
            </a:pPr>
            <a:r>
              <a:rPr lang="en-US" dirty="0"/>
              <a:t>Poor spacing caused layout to look cluttered and confusing. </a:t>
            </a:r>
          </a:p>
          <a:p>
            <a:pPr>
              <a:lnSpc>
                <a:spcPct val="150000"/>
              </a:lnSpc>
            </a:pPr>
            <a:r>
              <a:rPr lang="en-US" b="1" dirty="0"/>
              <a:t>After Usability Study</a:t>
            </a:r>
          </a:p>
          <a:p>
            <a:pPr marL="285750" indent="-285750">
              <a:buFont typeface="Arial" panose="020B0604020202020204" pitchFamily="34" charset="0"/>
              <a:buChar char="•"/>
            </a:pPr>
            <a:r>
              <a:rPr lang="en-US" dirty="0"/>
              <a:t>Form layout improved with better spacing and alignment.</a:t>
            </a:r>
          </a:p>
          <a:p>
            <a:pPr marL="285750" indent="-285750">
              <a:buFont typeface="Arial" panose="020B0604020202020204" pitchFamily="34" charset="0"/>
              <a:buChar char="•"/>
            </a:pPr>
            <a:r>
              <a:rPr lang="en-US" dirty="0"/>
              <a:t>Key details like item type and location are now visible along with item name. </a:t>
            </a:r>
          </a:p>
          <a:p>
            <a:pPr marL="285750" indent="-285750">
              <a:buFont typeface="Arial" panose="020B0604020202020204" pitchFamily="34" charset="0"/>
              <a:buChar char="•"/>
            </a:pPr>
            <a:r>
              <a:rPr lang="en-US" dirty="0"/>
              <a:t>Improved readability and clearer presentation of reported items.</a:t>
            </a:r>
          </a:p>
        </p:txBody>
      </p:sp>
      <p:sp>
        <p:nvSpPr>
          <p:cNvPr id="335" name="Google Shape;335;p57"/>
          <p:cNvSpPr/>
          <p:nvPr/>
        </p:nvSpPr>
        <p:spPr>
          <a:xfrm>
            <a:off x="3922500" y="1268300"/>
            <a:ext cx="1411024" cy="3156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57"/>
          <p:cNvSpPr/>
          <p:nvPr/>
        </p:nvSpPr>
        <p:spPr>
          <a:xfrm>
            <a:off x="6970494" y="1268300"/>
            <a:ext cx="1426186" cy="3174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7" name="Google Shape;337;p57"/>
          <p:cNvCxnSpPr/>
          <p:nvPr/>
        </p:nvCxnSpPr>
        <p:spPr>
          <a:xfrm>
            <a:off x="5749763" y="2855450"/>
            <a:ext cx="812100" cy="0"/>
          </a:xfrm>
          <a:prstGeom prst="straightConnector1">
            <a:avLst/>
          </a:prstGeom>
          <a:noFill/>
          <a:ln w="28575" cap="flat" cmpd="sng">
            <a:solidFill>
              <a:srgbClr val="34A853"/>
            </a:solidFill>
            <a:prstDash val="solid"/>
            <a:round/>
            <a:headEnd type="none" w="med" len="med"/>
            <a:tailEnd type="triangle" w="med" len="med"/>
          </a:ln>
        </p:spPr>
      </p:cxnSp>
      <p:sp>
        <p:nvSpPr>
          <p:cNvPr id="338" name="Google Shape;338;p57"/>
          <p:cNvSpPr txBox="1"/>
          <p:nvPr/>
        </p:nvSpPr>
        <p:spPr>
          <a:xfrm>
            <a:off x="3451125" y="853300"/>
            <a:ext cx="23538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34A853"/>
                </a:solidFill>
                <a:latin typeface="Open Sans"/>
                <a:ea typeface="Open Sans"/>
                <a:cs typeface="Open Sans"/>
                <a:sym typeface="Open Sans"/>
              </a:rPr>
              <a:t>Before usability study</a:t>
            </a:r>
            <a:endParaRPr sz="1200">
              <a:solidFill>
                <a:srgbClr val="34A853"/>
              </a:solidFill>
              <a:latin typeface="Open Sans"/>
              <a:ea typeface="Open Sans"/>
              <a:cs typeface="Open Sans"/>
              <a:sym typeface="Open Sans"/>
            </a:endParaRPr>
          </a:p>
          <a:p>
            <a:pPr marL="0" lvl="0" indent="0" algn="l" rtl="0">
              <a:spcBef>
                <a:spcPts val="0"/>
              </a:spcBef>
              <a:spcAft>
                <a:spcPts val="0"/>
              </a:spcAft>
              <a:buNone/>
            </a:pPr>
            <a:endParaRPr>
              <a:solidFill>
                <a:srgbClr val="1967D2"/>
              </a:solidFill>
            </a:endParaRPr>
          </a:p>
        </p:txBody>
      </p:sp>
      <p:sp>
        <p:nvSpPr>
          <p:cNvPr id="339" name="Google Shape;339;p57"/>
          <p:cNvSpPr txBox="1"/>
          <p:nvPr/>
        </p:nvSpPr>
        <p:spPr>
          <a:xfrm>
            <a:off x="6506700" y="853300"/>
            <a:ext cx="23538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34A853"/>
                </a:solidFill>
                <a:latin typeface="Open Sans"/>
                <a:ea typeface="Open Sans"/>
                <a:cs typeface="Open Sans"/>
                <a:sym typeface="Open Sans"/>
              </a:rPr>
              <a:t>After usability study</a:t>
            </a:r>
            <a:endParaRPr sz="1200">
              <a:solidFill>
                <a:srgbClr val="34A853"/>
              </a:solidFill>
              <a:latin typeface="Open Sans"/>
              <a:ea typeface="Open Sans"/>
              <a:cs typeface="Open Sans"/>
              <a:sym typeface="Open Sans"/>
            </a:endParaRPr>
          </a:p>
          <a:p>
            <a:pPr marL="0" lvl="0" indent="0" algn="l" rtl="0">
              <a:spcBef>
                <a:spcPts val="0"/>
              </a:spcBef>
              <a:spcAft>
                <a:spcPts val="0"/>
              </a:spcAft>
              <a:buNone/>
            </a:pPr>
            <a:endParaRPr>
              <a:solidFill>
                <a:srgbClr val="1967D2"/>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2500" y="1268300"/>
            <a:ext cx="1411025" cy="3135611"/>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0495" y="1268300"/>
            <a:ext cx="1426185" cy="31743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59"/>
          <p:cNvSpPr/>
          <p:nvPr/>
        </p:nvSpPr>
        <p:spPr>
          <a:xfrm>
            <a:off x="2455524" y="524350"/>
            <a:ext cx="6107451" cy="4215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59"/>
          <p:cNvSpPr txBox="1"/>
          <p:nvPr/>
        </p:nvSpPr>
        <p:spPr>
          <a:xfrm>
            <a:off x="517675" y="524350"/>
            <a:ext cx="7000800" cy="1034099"/>
          </a:xfrm>
          <a:prstGeom prst="rect">
            <a:avLst/>
          </a:prstGeom>
          <a:noFill/>
          <a:ln>
            <a:noFill/>
          </a:ln>
        </p:spPr>
        <p:txBody>
          <a:bodyPr spcFirstLastPara="1" wrap="square" lIns="0" tIns="91425" rIns="91425" bIns="91425" anchor="t" anchorCtr="0">
            <a:spAutoFit/>
          </a:bodyPr>
          <a:lstStyle/>
          <a:p>
            <a:pPr marL="0" lvl="0" indent="0" algn="l" rtl="0">
              <a:lnSpc>
                <a:spcPct val="115000"/>
              </a:lnSpc>
              <a:spcBef>
                <a:spcPts val="0"/>
              </a:spcBef>
              <a:spcAft>
                <a:spcPts val="0"/>
              </a:spcAft>
              <a:buNone/>
            </a:pPr>
            <a:r>
              <a:rPr lang="en"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High-fidelity</a:t>
            </a:r>
            <a:br>
              <a:rPr lang="en"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br>
            <a:r>
              <a:rPr lang="en"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prototype</a:t>
            </a:r>
            <a:endParaRPr sz="24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endParaRPr>
          </a:p>
        </p:txBody>
      </p:sp>
      <p:sp>
        <p:nvSpPr>
          <p:cNvPr id="361" name="Google Shape;361;p59"/>
          <p:cNvSpPr txBox="1"/>
          <p:nvPr/>
        </p:nvSpPr>
        <p:spPr>
          <a:xfrm>
            <a:off x="374500" y="1762978"/>
            <a:ext cx="2009104" cy="1400353"/>
          </a:xfrm>
          <a:prstGeom prst="rect">
            <a:avLst/>
          </a:prstGeom>
          <a:noFill/>
          <a:ln>
            <a:noFill/>
          </a:ln>
        </p:spPr>
        <p:txBody>
          <a:bodyPr spcFirstLastPara="1" wrap="square" lIns="0" tIns="91425" rIns="91425" bIns="91425" anchor="t" anchorCtr="0">
            <a:spAutoFit/>
          </a:bodyPr>
          <a:lstStyle/>
          <a:p>
            <a:pPr lvl="0"/>
            <a:r>
              <a:rPr lang="en"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[Link: </a:t>
            </a:r>
            <a:r>
              <a:rPr lang="en-US" sz="10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hlinkClick r:id="rId3"/>
              </a:rPr>
              <a:t>https://www.figma.com/design/1cwamnj4WCgFwjFPlwiT9p/HCI_Assigmnet05?node-id=54637-402&amp;t=GdCGOHp1o8c2Xxuj-1</a:t>
            </a:r>
            <a:r>
              <a:rPr lang="en-US" sz="1000"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 </a:t>
            </a:r>
            <a:r>
              <a:rPr lang="en"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rPr>
              <a:t>]</a:t>
            </a:r>
            <a:endParaRPr dirty="0">
              <a:solidFill>
                <a:srgbClr val="5F6368"/>
              </a:solidFill>
              <a:latin typeface="Tahoma" panose="020B0604030504040204" pitchFamily="34" charset="0"/>
              <a:ea typeface="Tahoma" panose="020B0604030504040204" pitchFamily="34" charset="0"/>
              <a:cs typeface="Tahoma" panose="020B0604030504040204" pitchFamily="34" charset="0"/>
              <a:sym typeface="Open Sans"/>
            </a:endParaRPr>
          </a:p>
          <a:p>
            <a:pPr marL="0" lvl="0" indent="0" algn="l" rtl="0">
              <a:lnSpc>
                <a:spcPct val="150000"/>
              </a:lnSpc>
              <a:spcBef>
                <a:spcPts val="0"/>
              </a:spcBef>
              <a:spcAft>
                <a:spcPts val="0"/>
              </a:spcAft>
              <a:buNone/>
            </a:pPr>
            <a:endParaRPr dirty="0">
              <a:latin typeface="Tahoma" panose="020B0604030504040204" pitchFamily="34" charset="0"/>
              <a:ea typeface="Tahoma" panose="020B0604030504040204" pitchFamily="34" charset="0"/>
              <a:cs typeface="Tahoma" panose="020B0604030504040204" pitchFamily="34" charset="0"/>
              <a:sym typeface="Open Sans"/>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95022" y="839324"/>
            <a:ext cx="1610732" cy="3585051"/>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6293" y="839324"/>
            <a:ext cx="1608855" cy="3580874"/>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55628" y="839324"/>
            <a:ext cx="1612327" cy="358860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55131" y="590549"/>
            <a:ext cx="8316574" cy="3705225"/>
          </a:xfrm>
          <a:prstGeom prst="rect">
            <a:avLst/>
          </a:prstGeom>
        </p:spPr>
      </p:pic>
    </p:spTree>
    <p:extLst>
      <p:ext uri="{BB962C8B-B14F-4D97-AF65-F5344CB8AC3E}">
        <p14:creationId xmlns:p14="http://schemas.microsoft.com/office/powerpoint/2010/main" val="4236178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C4AD121-9BA7-1B28-F670-69C4445EC3CE}"/>
              </a:ext>
            </a:extLst>
          </p:cNvPr>
          <p:cNvPicPr>
            <a:picLocks noChangeAspect="1"/>
          </p:cNvPicPr>
          <p:nvPr/>
        </p:nvPicPr>
        <p:blipFill>
          <a:blip r:embed="rId2"/>
          <a:srcRect l="1381"/>
          <a:stretch>
            <a:fillRect/>
          </a:stretch>
        </p:blipFill>
        <p:spPr>
          <a:xfrm>
            <a:off x="265470" y="699716"/>
            <a:ext cx="8613059" cy="3645178"/>
          </a:xfrm>
          <a:prstGeom prst="rect">
            <a:avLst/>
          </a:prstGeom>
        </p:spPr>
      </p:pic>
    </p:spTree>
    <p:extLst>
      <p:ext uri="{BB962C8B-B14F-4D97-AF65-F5344CB8AC3E}">
        <p14:creationId xmlns:p14="http://schemas.microsoft.com/office/powerpoint/2010/main" val="4115277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0"/>
          <p:cNvSpPr txBox="1"/>
          <p:nvPr/>
        </p:nvSpPr>
        <p:spPr>
          <a:xfrm>
            <a:off x="517675" y="524350"/>
            <a:ext cx="70008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Accessibility considerations</a:t>
            </a:r>
            <a:endParaRPr sz="2400">
              <a:solidFill>
                <a:srgbClr val="5F6368"/>
              </a:solidFill>
              <a:latin typeface="Open Sans"/>
              <a:ea typeface="Open Sans"/>
              <a:cs typeface="Open Sans"/>
              <a:sym typeface="Open Sans"/>
            </a:endParaRPr>
          </a:p>
        </p:txBody>
      </p:sp>
      <p:sp>
        <p:nvSpPr>
          <p:cNvPr id="368" name="Google Shape;368;p60"/>
          <p:cNvSpPr/>
          <p:nvPr/>
        </p:nvSpPr>
        <p:spPr>
          <a:xfrm>
            <a:off x="5176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60"/>
          <p:cNvSpPr txBox="1"/>
          <p:nvPr/>
        </p:nvSpPr>
        <p:spPr>
          <a:xfrm>
            <a:off x="711325" y="1917800"/>
            <a:ext cx="2049000" cy="1423436"/>
          </a:xfrm>
          <a:prstGeom prst="rect">
            <a:avLst/>
          </a:prstGeom>
          <a:noFill/>
          <a:ln>
            <a:noFill/>
          </a:ln>
        </p:spPr>
        <p:txBody>
          <a:bodyPr spcFirstLastPara="1" wrap="square" lIns="91425" tIns="91425" rIns="91425" bIns="91425" anchor="t" anchorCtr="0">
            <a:spAutoFit/>
          </a:bodyPr>
          <a:lstStyle/>
          <a:p>
            <a:pPr lvl="0" algn="ctr">
              <a:lnSpc>
                <a:spcPct val="115000"/>
              </a:lnSpc>
            </a:pPr>
            <a:r>
              <a:rPr lang="en-US" dirty="0"/>
              <a:t>High-contrast colors and readable fonts were used to improve visibility for users with visual impairments.</a:t>
            </a:r>
            <a:endParaRPr dirty="0"/>
          </a:p>
        </p:txBody>
      </p:sp>
      <p:sp>
        <p:nvSpPr>
          <p:cNvPr id="370" name="Google Shape;370;p60"/>
          <p:cNvSpPr/>
          <p:nvPr/>
        </p:nvSpPr>
        <p:spPr>
          <a:xfrm>
            <a:off x="31752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60"/>
          <p:cNvSpPr txBox="1"/>
          <p:nvPr/>
        </p:nvSpPr>
        <p:spPr>
          <a:xfrm>
            <a:off x="3368925" y="1917800"/>
            <a:ext cx="2049000" cy="1671196"/>
          </a:xfrm>
          <a:prstGeom prst="rect">
            <a:avLst/>
          </a:prstGeom>
          <a:noFill/>
          <a:ln>
            <a:noFill/>
          </a:ln>
        </p:spPr>
        <p:txBody>
          <a:bodyPr spcFirstLastPara="1" wrap="square" lIns="91425" tIns="91425" rIns="91425" bIns="91425" anchor="t" anchorCtr="0">
            <a:spAutoFit/>
          </a:bodyPr>
          <a:lstStyle/>
          <a:p>
            <a:pPr lvl="0" algn="ctr">
              <a:lnSpc>
                <a:spcPct val="115000"/>
              </a:lnSpc>
            </a:pPr>
            <a:r>
              <a:rPr lang="en-US" dirty="0"/>
              <a:t>Buttons and navigation elements were designed with clear labels and sufficient spacing for easier interaction.</a:t>
            </a:r>
            <a:endParaRPr dirty="0"/>
          </a:p>
        </p:txBody>
      </p:sp>
      <p:sp>
        <p:nvSpPr>
          <p:cNvPr id="372" name="Google Shape;372;p60"/>
          <p:cNvSpPr/>
          <p:nvPr/>
        </p:nvSpPr>
        <p:spPr>
          <a:xfrm>
            <a:off x="58328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60"/>
          <p:cNvSpPr txBox="1"/>
          <p:nvPr/>
        </p:nvSpPr>
        <p:spPr>
          <a:xfrm>
            <a:off x="6026525" y="1917800"/>
            <a:ext cx="2049000" cy="1671196"/>
          </a:xfrm>
          <a:prstGeom prst="rect">
            <a:avLst/>
          </a:prstGeom>
          <a:noFill/>
          <a:ln>
            <a:noFill/>
          </a:ln>
        </p:spPr>
        <p:txBody>
          <a:bodyPr spcFirstLastPara="1" wrap="square" lIns="91425" tIns="91425" rIns="91425" bIns="91425" anchor="t" anchorCtr="0">
            <a:spAutoFit/>
          </a:bodyPr>
          <a:lstStyle/>
          <a:p>
            <a:pPr lvl="0" algn="ctr">
              <a:lnSpc>
                <a:spcPct val="115000"/>
              </a:lnSpc>
            </a:pPr>
            <a:r>
              <a:rPr lang="en-US" dirty="0"/>
              <a:t>Simple language and organized layouts were used to make the system understandable for users with different technical skill levels.</a:t>
            </a:r>
            <a:endParaRPr dirty="0"/>
          </a:p>
        </p:txBody>
      </p:sp>
      <p:sp>
        <p:nvSpPr>
          <p:cNvPr id="374" name="Google Shape;374;p60"/>
          <p:cNvSpPr/>
          <p:nvPr/>
        </p:nvSpPr>
        <p:spPr>
          <a:xfrm>
            <a:off x="1479175" y="1233971"/>
            <a:ext cx="513300" cy="513300"/>
          </a:xfrm>
          <a:prstGeom prst="ellipse">
            <a:avLst/>
          </a:prstGeom>
          <a:solidFill>
            <a:srgbClr val="34A85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1</a:t>
            </a:r>
            <a:endParaRPr sz="2200">
              <a:solidFill>
                <a:srgbClr val="FFFFFF"/>
              </a:solidFill>
              <a:latin typeface="Google Sans Medium"/>
              <a:ea typeface="Google Sans Medium"/>
              <a:cs typeface="Google Sans Medium"/>
              <a:sym typeface="Google Sans Medium"/>
            </a:endParaRPr>
          </a:p>
        </p:txBody>
      </p:sp>
      <p:sp>
        <p:nvSpPr>
          <p:cNvPr id="375" name="Google Shape;375;p60"/>
          <p:cNvSpPr/>
          <p:nvPr/>
        </p:nvSpPr>
        <p:spPr>
          <a:xfrm>
            <a:off x="4136775" y="1233971"/>
            <a:ext cx="513300" cy="513300"/>
          </a:xfrm>
          <a:prstGeom prst="ellipse">
            <a:avLst/>
          </a:prstGeom>
          <a:solidFill>
            <a:srgbClr val="34A85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2</a:t>
            </a:r>
            <a:endParaRPr sz="2200">
              <a:solidFill>
                <a:srgbClr val="FFFFFF"/>
              </a:solidFill>
              <a:latin typeface="Google Sans Medium"/>
              <a:ea typeface="Google Sans Medium"/>
              <a:cs typeface="Google Sans Medium"/>
              <a:sym typeface="Google Sans Medium"/>
            </a:endParaRPr>
          </a:p>
        </p:txBody>
      </p:sp>
      <p:sp>
        <p:nvSpPr>
          <p:cNvPr id="376" name="Google Shape;376;p60"/>
          <p:cNvSpPr/>
          <p:nvPr/>
        </p:nvSpPr>
        <p:spPr>
          <a:xfrm>
            <a:off x="6794375" y="1233971"/>
            <a:ext cx="513300" cy="513300"/>
          </a:xfrm>
          <a:prstGeom prst="ellipse">
            <a:avLst/>
          </a:prstGeom>
          <a:solidFill>
            <a:srgbClr val="34A853"/>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3</a:t>
            </a:r>
            <a:endParaRPr sz="2200">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5F6368"/>
        </a:solidFill>
        <a:effectLst/>
      </p:bgPr>
    </p:bg>
    <p:spTree>
      <p:nvGrpSpPr>
        <p:cNvPr id="1" name="Shape 380"/>
        <p:cNvGrpSpPr/>
        <p:nvPr/>
      </p:nvGrpSpPr>
      <p:grpSpPr>
        <a:xfrm>
          <a:off x="0" y="0"/>
          <a:ext cx="0" cy="0"/>
          <a:chOff x="0" y="0"/>
          <a:chExt cx="0" cy="0"/>
        </a:xfrm>
      </p:grpSpPr>
      <p:sp>
        <p:nvSpPr>
          <p:cNvPr id="381" name="Google Shape;381;p61"/>
          <p:cNvSpPr txBox="1"/>
          <p:nvPr/>
        </p:nvSpPr>
        <p:spPr>
          <a:xfrm>
            <a:off x="3721275" y="2210100"/>
            <a:ext cx="2275500" cy="723300"/>
          </a:xfrm>
          <a:prstGeom prst="rect">
            <a:avLst/>
          </a:prstGeom>
          <a:noFill/>
          <a:ln>
            <a:noFill/>
          </a:ln>
        </p:spPr>
        <p:txBody>
          <a:bodyPr spcFirstLastPara="1" wrap="square" lIns="91425" tIns="91425" rIns="91425" bIns="91425" anchor="t" anchorCtr="0">
            <a:spAutoFit/>
          </a:bodyPr>
          <a:lstStyle/>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Takeaways</a:t>
            </a:r>
            <a:endParaRPr>
              <a:solidFill>
                <a:srgbClr val="FFFFFF"/>
              </a:solidFill>
              <a:latin typeface="Open Sans"/>
              <a:ea typeface="Open Sans"/>
              <a:cs typeface="Open Sans"/>
              <a:sym typeface="Open Sans"/>
            </a:endParaRPr>
          </a:p>
          <a:p>
            <a:pPr marL="457200" lvl="0" indent="-317500" algn="l" rtl="0">
              <a:lnSpc>
                <a:spcPct val="150000"/>
              </a:lnSpc>
              <a:spcBef>
                <a:spcPts val="0"/>
              </a:spcBef>
              <a:spcAft>
                <a:spcPts val="0"/>
              </a:spcAft>
              <a:buClr>
                <a:srgbClr val="FFFFFF"/>
              </a:buClr>
              <a:buSzPts val="1400"/>
              <a:buFont typeface="Open Sans"/>
              <a:buChar char="●"/>
            </a:pPr>
            <a:r>
              <a:rPr lang="en">
                <a:solidFill>
                  <a:srgbClr val="FFFFFF"/>
                </a:solidFill>
                <a:latin typeface="Open Sans"/>
                <a:ea typeface="Open Sans"/>
                <a:cs typeface="Open Sans"/>
                <a:sym typeface="Open Sans"/>
              </a:rPr>
              <a:t>Next steps</a:t>
            </a:r>
            <a:endParaRPr>
              <a:solidFill>
                <a:srgbClr val="FFFFFF"/>
              </a:solidFill>
              <a:latin typeface="Open Sans"/>
              <a:ea typeface="Open Sans"/>
              <a:cs typeface="Open Sans"/>
              <a:sym typeface="Open Sans"/>
            </a:endParaRPr>
          </a:p>
        </p:txBody>
      </p:sp>
      <p:sp>
        <p:nvSpPr>
          <p:cNvPr id="382" name="Google Shape;382;p61"/>
          <p:cNvSpPr txBox="1"/>
          <p:nvPr/>
        </p:nvSpPr>
        <p:spPr>
          <a:xfrm>
            <a:off x="-468875" y="2294700"/>
            <a:ext cx="3704400" cy="554100"/>
          </a:xfrm>
          <a:prstGeom prst="rect">
            <a:avLst/>
          </a:prstGeom>
          <a:noFill/>
          <a:ln>
            <a:noFill/>
          </a:ln>
        </p:spPr>
        <p:txBody>
          <a:bodyPr spcFirstLastPara="1" wrap="square" lIns="91425" tIns="91425" rIns="91425" bIns="91425" anchor="t" anchorCtr="0">
            <a:spAutoFit/>
          </a:bodyPr>
          <a:lstStyle/>
          <a:p>
            <a:pPr marL="0" lvl="0" indent="0" algn="r" rtl="0">
              <a:lnSpc>
                <a:spcPct val="115000"/>
              </a:lnSpc>
              <a:spcBef>
                <a:spcPts val="0"/>
              </a:spcBef>
              <a:spcAft>
                <a:spcPts val="0"/>
              </a:spcAft>
              <a:buNone/>
            </a:pPr>
            <a:r>
              <a:rPr lang="en" sz="2400">
                <a:solidFill>
                  <a:srgbClr val="FFFFFF"/>
                </a:solidFill>
                <a:latin typeface="Open Sans"/>
                <a:ea typeface="Open Sans"/>
                <a:cs typeface="Open Sans"/>
                <a:sym typeface="Open Sans"/>
              </a:rPr>
              <a:t>Going forward</a:t>
            </a:r>
            <a:endParaRPr sz="2400">
              <a:solidFill>
                <a:srgbClr val="FFFFFF"/>
              </a:solidFill>
              <a:latin typeface="Open Sans"/>
              <a:ea typeface="Open Sans"/>
              <a:cs typeface="Open Sans"/>
              <a:sym typeface="Open Sans"/>
            </a:endParaRPr>
          </a:p>
        </p:txBody>
      </p:sp>
      <p:cxnSp>
        <p:nvCxnSpPr>
          <p:cNvPr id="383" name="Google Shape;383;p61"/>
          <p:cNvCxnSpPr/>
          <p:nvPr/>
        </p:nvCxnSpPr>
        <p:spPr>
          <a:xfrm>
            <a:off x="3460100" y="1032150"/>
            <a:ext cx="36600" cy="3079200"/>
          </a:xfrm>
          <a:prstGeom prst="straightConnector1">
            <a:avLst/>
          </a:prstGeom>
          <a:noFill/>
          <a:ln w="19050" cap="flat" cmpd="sng">
            <a:solidFill>
              <a:srgbClr val="FFFFFF"/>
            </a:solidFill>
            <a:prstDash val="solid"/>
            <a:round/>
            <a:headEnd type="none" w="med" len="med"/>
            <a:tailEnd type="non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2"/>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Takeaways</a:t>
            </a:r>
            <a:endParaRPr sz="2400">
              <a:solidFill>
                <a:srgbClr val="5F6368"/>
              </a:solidFill>
              <a:latin typeface="Open Sans"/>
              <a:ea typeface="Open Sans"/>
              <a:cs typeface="Open Sans"/>
              <a:sym typeface="Open Sans"/>
            </a:endParaRPr>
          </a:p>
        </p:txBody>
      </p:sp>
      <p:sp>
        <p:nvSpPr>
          <p:cNvPr id="389" name="Google Shape;389;p62"/>
          <p:cNvSpPr txBox="1"/>
          <p:nvPr/>
        </p:nvSpPr>
        <p:spPr>
          <a:xfrm>
            <a:off x="539600" y="2237975"/>
            <a:ext cx="3446100" cy="2169794"/>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5F6368"/>
                </a:solidFill>
                <a:latin typeface="Open Sans SemiBold"/>
                <a:ea typeface="Open Sans SemiBold"/>
                <a:cs typeface="Open Sans SemiBold"/>
                <a:sym typeface="Open Sans SemiBold"/>
              </a:rPr>
              <a:t>Impact: </a:t>
            </a:r>
            <a:endParaRPr dirty="0">
              <a:solidFill>
                <a:srgbClr val="5F6368"/>
              </a:solidFill>
              <a:latin typeface="Open Sans SemiBold"/>
              <a:ea typeface="Open Sans SemiBold"/>
              <a:cs typeface="Open Sans SemiBold"/>
              <a:sym typeface="Open Sans SemiBold"/>
            </a:endParaRPr>
          </a:p>
          <a:p>
            <a:pPr lvl="0">
              <a:lnSpc>
                <a:spcPct val="150000"/>
              </a:lnSpc>
            </a:pPr>
            <a:r>
              <a:rPr lang="en-US" sz="1200" dirty="0"/>
              <a:t>The Smart Lost &amp; Found System provides users with a faster and more organized way to report and recover lost items. Feedback from users showed that the platform made the process easier, reduced confusion, and improved trust through secure claim verification.</a:t>
            </a:r>
            <a:endParaRPr sz="1200" b="1" dirty="0">
              <a:solidFill>
                <a:srgbClr val="1967D2"/>
              </a:solidFill>
              <a:latin typeface="Open Sans"/>
              <a:ea typeface="Open Sans"/>
              <a:cs typeface="Open Sans"/>
              <a:sym typeface="Open Sans"/>
            </a:endParaRPr>
          </a:p>
        </p:txBody>
      </p:sp>
      <p:sp>
        <p:nvSpPr>
          <p:cNvPr id="390" name="Google Shape;390;p62"/>
          <p:cNvSpPr/>
          <p:nvPr/>
        </p:nvSpPr>
        <p:spPr>
          <a:xfrm>
            <a:off x="539600" y="1534000"/>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62"/>
          <p:cNvSpPr txBox="1"/>
          <p:nvPr/>
        </p:nvSpPr>
        <p:spPr>
          <a:xfrm>
            <a:off x="4495800" y="2237975"/>
            <a:ext cx="3446100" cy="2446793"/>
          </a:xfrm>
          <a:prstGeom prst="rect">
            <a:avLst/>
          </a:prstGeom>
          <a:noFill/>
          <a:ln>
            <a:noFill/>
          </a:ln>
        </p:spPr>
        <p:txBody>
          <a:bodyPr spcFirstLastPara="1" wrap="square" lIns="0" tIns="91425" rIns="91425" bIns="91425" anchor="t" anchorCtr="0">
            <a:spAutoFit/>
          </a:bodyPr>
          <a:lstStyle/>
          <a:p>
            <a:pPr marL="0" lvl="0" indent="0" algn="l" rtl="0">
              <a:lnSpc>
                <a:spcPct val="150000"/>
              </a:lnSpc>
              <a:spcBef>
                <a:spcPts val="0"/>
              </a:spcBef>
              <a:spcAft>
                <a:spcPts val="0"/>
              </a:spcAft>
              <a:buNone/>
            </a:pPr>
            <a:r>
              <a:rPr lang="en" dirty="0">
                <a:solidFill>
                  <a:srgbClr val="5F6368"/>
                </a:solidFill>
                <a:latin typeface="Open Sans SemiBold"/>
                <a:ea typeface="Open Sans SemiBold"/>
                <a:cs typeface="Open Sans SemiBold"/>
                <a:sym typeface="Open Sans SemiBold"/>
              </a:rPr>
              <a:t>What I learned:</a:t>
            </a:r>
            <a:endParaRPr dirty="0">
              <a:solidFill>
                <a:srgbClr val="5F6368"/>
              </a:solidFill>
              <a:latin typeface="Open Sans SemiBold"/>
              <a:ea typeface="Open Sans SemiBold"/>
              <a:cs typeface="Open Sans SemiBold"/>
              <a:sym typeface="Open Sans SemiBold"/>
            </a:endParaRPr>
          </a:p>
          <a:p>
            <a:pPr lvl="0">
              <a:lnSpc>
                <a:spcPct val="150000"/>
              </a:lnSpc>
            </a:pPr>
            <a:r>
              <a:rPr lang="en-US" sz="1200" dirty="0"/>
              <a:t>Throughout this project, I learned the importance of user-centered design and continuous testing. Conducting usability studies helped me understand real user problems and improve the interface based on practical feedback. This also improved my skills in wireframing, prototyping, and designing accessible interfaces</a:t>
            </a:r>
            <a:r>
              <a:rPr lang="en" sz="1200" dirty="0">
                <a:solidFill>
                  <a:srgbClr val="5F6368"/>
                </a:solidFill>
                <a:latin typeface="Open Sans"/>
                <a:ea typeface="Open Sans"/>
                <a:cs typeface="Open Sans"/>
                <a:sym typeface="Open Sans"/>
              </a:rPr>
              <a:t>.</a:t>
            </a:r>
            <a:endParaRPr sz="1200" b="1" dirty="0">
              <a:solidFill>
                <a:srgbClr val="4285F4"/>
              </a:solidFill>
              <a:latin typeface="Open Sans"/>
              <a:ea typeface="Open Sans"/>
              <a:cs typeface="Open Sans"/>
              <a:sym typeface="Open Sans"/>
            </a:endParaRPr>
          </a:p>
        </p:txBody>
      </p:sp>
      <p:sp>
        <p:nvSpPr>
          <p:cNvPr id="392" name="Google Shape;392;p62"/>
          <p:cNvSpPr/>
          <p:nvPr/>
        </p:nvSpPr>
        <p:spPr>
          <a:xfrm>
            <a:off x="4495800" y="1534000"/>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62"/>
          <p:cNvSpPr/>
          <p:nvPr/>
        </p:nvSpPr>
        <p:spPr>
          <a:xfrm>
            <a:off x="679050" y="1660250"/>
            <a:ext cx="234394" cy="260801"/>
          </a:xfrm>
          <a:custGeom>
            <a:avLst/>
            <a:gdLst/>
            <a:ahLst/>
            <a:cxnLst/>
            <a:rect l="l" t="t" r="r" b="b"/>
            <a:pathLst>
              <a:path w="941" h="1045" extrusionOk="0">
                <a:moveTo>
                  <a:pt x="833" y="105"/>
                </a:moveTo>
                <a:lnTo>
                  <a:pt x="616" y="105"/>
                </a:lnTo>
                <a:cubicBezTo>
                  <a:pt x="593" y="45"/>
                  <a:pt x="536" y="0"/>
                  <a:pt x="469" y="0"/>
                </a:cubicBezTo>
                <a:cubicBezTo>
                  <a:pt x="401" y="0"/>
                  <a:pt x="345" y="45"/>
                  <a:pt x="322" y="105"/>
                </a:cubicBezTo>
                <a:lnTo>
                  <a:pt x="105" y="105"/>
                </a:lnTo>
                <a:cubicBezTo>
                  <a:pt x="48" y="105"/>
                  <a:pt x="0" y="153"/>
                  <a:pt x="0" y="209"/>
                </a:cubicBezTo>
                <a:lnTo>
                  <a:pt x="0" y="940"/>
                </a:lnTo>
                <a:cubicBezTo>
                  <a:pt x="0" y="997"/>
                  <a:pt x="48" y="1044"/>
                  <a:pt x="105" y="1044"/>
                </a:cubicBezTo>
                <a:lnTo>
                  <a:pt x="836" y="1044"/>
                </a:lnTo>
                <a:cubicBezTo>
                  <a:pt x="892" y="1044"/>
                  <a:pt x="940" y="997"/>
                  <a:pt x="940" y="940"/>
                </a:cubicBezTo>
                <a:lnTo>
                  <a:pt x="940" y="209"/>
                </a:lnTo>
                <a:cubicBezTo>
                  <a:pt x="937" y="153"/>
                  <a:pt x="889" y="105"/>
                  <a:pt x="833" y="105"/>
                </a:cubicBezTo>
                <a:close/>
                <a:moveTo>
                  <a:pt x="466" y="105"/>
                </a:moveTo>
                <a:cubicBezTo>
                  <a:pt x="494" y="105"/>
                  <a:pt x="520" y="127"/>
                  <a:pt x="520" y="158"/>
                </a:cubicBezTo>
                <a:cubicBezTo>
                  <a:pt x="520" y="187"/>
                  <a:pt x="497" y="212"/>
                  <a:pt x="466" y="212"/>
                </a:cubicBezTo>
                <a:cubicBezTo>
                  <a:pt x="435" y="212"/>
                  <a:pt x="412" y="189"/>
                  <a:pt x="412" y="158"/>
                </a:cubicBezTo>
                <a:cubicBezTo>
                  <a:pt x="415" y="127"/>
                  <a:pt x="438" y="105"/>
                  <a:pt x="466" y="105"/>
                </a:cubicBezTo>
                <a:close/>
                <a:moveTo>
                  <a:pt x="362" y="836"/>
                </a:moveTo>
                <a:lnTo>
                  <a:pt x="153" y="627"/>
                </a:lnTo>
                <a:lnTo>
                  <a:pt x="226" y="553"/>
                </a:lnTo>
                <a:lnTo>
                  <a:pt x="362" y="689"/>
                </a:lnTo>
                <a:lnTo>
                  <a:pt x="706" y="345"/>
                </a:lnTo>
                <a:lnTo>
                  <a:pt x="779" y="418"/>
                </a:lnTo>
                <a:lnTo>
                  <a:pt x="362" y="836"/>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grpSp>
        <p:nvGrpSpPr>
          <p:cNvPr id="394" name="Google Shape;394;p62"/>
          <p:cNvGrpSpPr/>
          <p:nvPr/>
        </p:nvGrpSpPr>
        <p:grpSpPr>
          <a:xfrm>
            <a:off x="4605678" y="1676963"/>
            <a:ext cx="293543" cy="227362"/>
            <a:chOff x="420350" y="238125"/>
            <a:chExt cx="6779275" cy="5238750"/>
          </a:xfrm>
        </p:grpSpPr>
        <p:sp>
          <p:nvSpPr>
            <p:cNvPr id="395" name="Google Shape;395;p62"/>
            <p:cNvSpPr/>
            <p:nvPr/>
          </p:nvSpPr>
          <p:spPr>
            <a:xfrm>
              <a:off x="420350" y="238125"/>
              <a:ext cx="6779275" cy="5238750"/>
            </a:xfrm>
            <a:custGeom>
              <a:avLst/>
              <a:gdLst/>
              <a:ahLst/>
              <a:cxnLst/>
              <a:rect l="l" t="t" r="r" b="b"/>
              <a:pathLst>
                <a:path w="271171" h="209550" extrusionOk="0">
                  <a:moveTo>
                    <a:pt x="203423" y="24684"/>
                  </a:moveTo>
                  <a:lnTo>
                    <a:pt x="208928" y="24773"/>
                  </a:lnTo>
                  <a:lnTo>
                    <a:pt x="214433" y="25039"/>
                  </a:lnTo>
                  <a:lnTo>
                    <a:pt x="219938" y="25483"/>
                  </a:lnTo>
                  <a:lnTo>
                    <a:pt x="225443" y="26105"/>
                  </a:lnTo>
                  <a:lnTo>
                    <a:pt x="228107" y="26549"/>
                  </a:lnTo>
                  <a:lnTo>
                    <a:pt x="230859" y="26993"/>
                  </a:lnTo>
                  <a:lnTo>
                    <a:pt x="233523" y="27437"/>
                  </a:lnTo>
                  <a:lnTo>
                    <a:pt x="236187" y="28058"/>
                  </a:lnTo>
                  <a:lnTo>
                    <a:pt x="238762" y="28680"/>
                  </a:lnTo>
                  <a:lnTo>
                    <a:pt x="241426" y="29301"/>
                  </a:lnTo>
                  <a:lnTo>
                    <a:pt x="244001" y="30012"/>
                  </a:lnTo>
                  <a:lnTo>
                    <a:pt x="246576" y="30811"/>
                  </a:lnTo>
                  <a:lnTo>
                    <a:pt x="246576" y="172612"/>
                  </a:lnTo>
                  <a:lnTo>
                    <a:pt x="244001" y="171813"/>
                  </a:lnTo>
                  <a:lnTo>
                    <a:pt x="241426" y="171103"/>
                  </a:lnTo>
                  <a:lnTo>
                    <a:pt x="238762" y="170393"/>
                  </a:lnTo>
                  <a:lnTo>
                    <a:pt x="236187" y="169771"/>
                  </a:lnTo>
                  <a:lnTo>
                    <a:pt x="233523" y="169238"/>
                  </a:lnTo>
                  <a:lnTo>
                    <a:pt x="230859" y="168706"/>
                  </a:lnTo>
                  <a:lnTo>
                    <a:pt x="228107" y="168262"/>
                  </a:lnTo>
                  <a:lnTo>
                    <a:pt x="225443" y="167906"/>
                  </a:lnTo>
                  <a:lnTo>
                    <a:pt x="219938" y="167196"/>
                  </a:lnTo>
                  <a:lnTo>
                    <a:pt x="214433" y="166752"/>
                  </a:lnTo>
                  <a:lnTo>
                    <a:pt x="208928" y="166486"/>
                  </a:lnTo>
                  <a:lnTo>
                    <a:pt x="203423" y="166397"/>
                  </a:lnTo>
                  <a:lnTo>
                    <a:pt x="199338" y="166486"/>
                  </a:lnTo>
                  <a:lnTo>
                    <a:pt x="195165" y="166752"/>
                  </a:lnTo>
                  <a:lnTo>
                    <a:pt x="190814" y="167196"/>
                  </a:lnTo>
                  <a:lnTo>
                    <a:pt x="186286" y="167818"/>
                  </a:lnTo>
                  <a:lnTo>
                    <a:pt x="181757" y="168617"/>
                  </a:lnTo>
                  <a:lnTo>
                    <a:pt x="177140" y="169505"/>
                  </a:lnTo>
                  <a:lnTo>
                    <a:pt x="172523" y="170570"/>
                  </a:lnTo>
                  <a:lnTo>
                    <a:pt x="167906" y="171724"/>
                  </a:lnTo>
                  <a:lnTo>
                    <a:pt x="163289" y="173056"/>
                  </a:lnTo>
                  <a:lnTo>
                    <a:pt x="158849" y="174477"/>
                  </a:lnTo>
                  <a:lnTo>
                    <a:pt x="154498" y="175986"/>
                  </a:lnTo>
                  <a:lnTo>
                    <a:pt x="150236" y="177585"/>
                  </a:lnTo>
                  <a:lnTo>
                    <a:pt x="146241" y="179272"/>
                  </a:lnTo>
                  <a:lnTo>
                    <a:pt x="142422" y="181136"/>
                  </a:lnTo>
                  <a:lnTo>
                    <a:pt x="138871" y="183001"/>
                  </a:lnTo>
                  <a:lnTo>
                    <a:pt x="135586" y="184866"/>
                  </a:lnTo>
                  <a:lnTo>
                    <a:pt x="135586" y="43153"/>
                  </a:lnTo>
                  <a:lnTo>
                    <a:pt x="138871" y="41200"/>
                  </a:lnTo>
                  <a:lnTo>
                    <a:pt x="142422" y="39335"/>
                  </a:lnTo>
                  <a:lnTo>
                    <a:pt x="146241" y="37559"/>
                  </a:lnTo>
                  <a:lnTo>
                    <a:pt x="150236" y="35783"/>
                  </a:lnTo>
                  <a:lnTo>
                    <a:pt x="154498" y="34185"/>
                  </a:lnTo>
                  <a:lnTo>
                    <a:pt x="158849" y="32676"/>
                  </a:lnTo>
                  <a:lnTo>
                    <a:pt x="163289" y="31255"/>
                  </a:lnTo>
                  <a:lnTo>
                    <a:pt x="167906" y="29923"/>
                  </a:lnTo>
                  <a:lnTo>
                    <a:pt x="172523" y="28769"/>
                  </a:lnTo>
                  <a:lnTo>
                    <a:pt x="177140" y="27703"/>
                  </a:lnTo>
                  <a:lnTo>
                    <a:pt x="181757" y="26815"/>
                  </a:lnTo>
                  <a:lnTo>
                    <a:pt x="186286" y="26016"/>
                  </a:lnTo>
                  <a:lnTo>
                    <a:pt x="190814" y="25483"/>
                  </a:lnTo>
                  <a:lnTo>
                    <a:pt x="195165" y="25039"/>
                  </a:lnTo>
                  <a:lnTo>
                    <a:pt x="199338" y="24773"/>
                  </a:lnTo>
                  <a:lnTo>
                    <a:pt x="203423" y="24684"/>
                  </a:lnTo>
                  <a:close/>
                  <a:moveTo>
                    <a:pt x="67748" y="0"/>
                  </a:moveTo>
                  <a:lnTo>
                    <a:pt x="63220" y="89"/>
                  </a:lnTo>
                  <a:lnTo>
                    <a:pt x="58692" y="266"/>
                  </a:lnTo>
                  <a:lnTo>
                    <a:pt x="54163" y="533"/>
                  </a:lnTo>
                  <a:lnTo>
                    <a:pt x="49546" y="977"/>
                  </a:lnTo>
                  <a:lnTo>
                    <a:pt x="45018" y="1509"/>
                  </a:lnTo>
                  <a:lnTo>
                    <a:pt x="40489" y="2220"/>
                  </a:lnTo>
                  <a:lnTo>
                    <a:pt x="35961" y="3108"/>
                  </a:lnTo>
                  <a:lnTo>
                    <a:pt x="31610" y="4173"/>
                  </a:lnTo>
                  <a:lnTo>
                    <a:pt x="27259" y="5328"/>
                  </a:lnTo>
                  <a:lnTo>
                    <a:pt x="22908" y="6659"/>
                  </a:lnTo>
                  <a:lnTo>
                    <a:pt x="18824" y="8169"/>
                  </a:lnTo>
                  <a:lnTo>
                    <a:pt x="16782" y="8968"/>
                  </a:lnTo>
                  <a:lnTo>
                    <a:pt x="14739" y="9856"/>
                  </a:lnTo>
                  <a:lnTo>
                    <a:pt x="12786" y="10744"/>
                  </a:lnTo>
                  <a:lnTo>
                    <a:pt x="10833" y="11721"/>
                  </a:lnTo>
                  <a:lnTo>
                    <a:pt x="8879" y="12697"/>
                  </a:lnTo>
                  <a:lnTo>
                    <a:pt x="7015" y="13763"/>
                  </a:lnTo>
                  <a:lnTo>
                    <a:pt x="5239" y="14917"/>
                  </a:lnTo>
                  <a:lnTo>
                    <a:pt x="3463" y="16071"/>
                  </a:lnTo>
                  <a:lnTo>
                    <a:pt x="1687" y="17226"/>
                  </a:lnTo>
                  <a:lnTo>
                    <a:pt x="0" y="18469"/>
                  </a:lnTo>
                  <a:lnTo>
                    <a:pt x="0" y="199073"/>
                  </a:lnTo>
                  <a:lnTo>
                    <a:pt x="0" y="199694"/>
                  </a:lnTo>
                  <a:lnTo>
                    <a:pt x="89" y="200227"/>
                  </a:lnTo>
                  <a:lnTo>
                    <a:pt x="266" y="200760"/>
                  </a:lnTo>
                  <a:lnTo>
                    <a:pt x="533" y="201381"/>
                  </a:lnTo>
                  <a:lnTo>
                    <a:pt x="799" y="201914"/>
                  </a:lnTo>
                  <a:lnTo>
                    <a:pt x="1154" y="202358"/>
                  </a:lnTo>
                  <a:lnTo>
                    <a:pt x="1865" y="203335"/>
                  </a:lnTo>
                  <a:lnTo>
                    <a:pt x="2841" y="204134"/>
                  </a:lnTo>
                  <a:lnTo>
                    <a:pt x="3374" y="204400"/>
                  </a:lnTo>
                  <a:lnTo>
                    <a:pt x="3907" y="204755"/>
                  </a:lnTo>
                  <a:lnTo>
                    <a:pt x="4440" y="204933"/>
                  </a:lnTo>
                  <a:lnTo>
                    <a:pt x="4972" y="205110"/>
                  </a:lnTo>
                  <a:lnTo>
                    <a:pt x="5594" y="205199"/>
                  </a:lnTo>
                  <a:lnTo>
                    <a:pt x="6127" y="205288"/>
                  </a:lnTo>
                  <a:lnTo>
                    <a:pt x="6571" y="205199"/>
                  </a:lnTo>
                  <a:lnTo>
                    <a:pt x="7015" y="205110"/>
                  </a:lnTo>
                  <a:lnTo>
                    <a:pt x="7725" y="204933"/>
                  </a:lnTo>
                  <a:lnTo>
                    <a:pt x="8435" y="204755"/>
                  </a:lnTo>
                  <a:lnTo>
                    <a:pt x="8790" y="204666"/>
                  </a:lnTo>
                  <a:lnTo>
                    <a:pt x="9234" y="204666"/>
                  </a:lnTo>
                  <a:lnTo>
                    <a:pt x="12431" y="203157"/>
                  </a:lnTo>
                  <a:lnTo>
                    <a:pt x="15805" y="201736"/>
                  </a:lnTo>
                  <a:lnTo>
                    <a:pt x="19268" y="200404"/>
                  </a:lnTo>
                  <a:lnTo>
                    <a:pt x="22908" y="199161"/>
                  </a:lnTo>
                  <a:lnTo>
                    <a:pt x="26549" y="197918"/>
                  </a:lnTo>
                  <a:lnTo>
                    <a:pt x="30367" y="196853"/>
                  </a:lnTo>
                  <a:lnTo>
                    <a:pt x="34185" y="195787"/>
                  </a:lnTo>
                  <a:lnTo>
                    <a:pt x="38003" y="194810"/>
                  </a:lnTo>
                  <a:lnTo>
                    <a:pt x="41910" y="194011"/>
                  </a:lnTo>
                  <a:lnTo>
                    <a:pt x="45817" y="193212"/>
                  </a:lnTo>
                  <a:lnTo>
                    <a:pt x="49635" y="192591"/>
                  </a:lnTo>
                  <a:lnTo>
                    <a:pt x="53453" y="192058"/>
                  </a:lnTo>
                  <a:lnTo>
                    <a:pt x="57182" y="191614"/>
                  </a:lnTo>
                  <a:lnTo>
                    <a:pt x="60823" y="191348"/>
                  </a:lnTo>
                  <a:lnTo>
                    <a:pt x="64374" y="191170"/>
                  </a:lnTo>
                  <a:lnTo>
                    <a:pt x="67748" y="191081"/>
                  </a:lnTo>
                  <a:lnTo>
                    <a:pt x="72277" y="191170"/>
                  </a:lnTo>
                  <a:lnTo>
                    <a:pt x="76894" y="191348"/>
                  </a:lnTo>
                  <a:lnTo>
                    <a:pt x="81422" y="191614"/>
                  </a:lnTo>
                  <a:lnTo>
                    <a:pt x="86040" y="192058"/>
                  </a:lnTo>
                  <a:lnTo>
                    <a:pt x="90568" y="192591"/>
                  </a:lnTo>
                  <a:lnTo>
                    <a:pt x="95096" y="193390"/>
                  </a:lnTo>
                  <a:lnTo>
                    <a:pt x="99536" y="194189"/>
                  </a:lnTo>
                  <a:lnTo>
                    <a:pt x="103976" y="195254"/>
                  </a:lnTo>
                  <a:lnTo>
                    <a:pt x="108326" y="196409"/>
                  </a:lnTo>
                  <a:lnTo>
                    <a:pt x="112588" y="197741"/>
                  </a:lnTo>
                  <a:lnTo>
                    <a:pt x="116762" y="199250"/>
                  </a:lnTo>
                  <a:lnTo>
                    <a:pt x="118804" y="200049"/>
                  </a:lnTo>
                  <a:lnTo>
                    <a:pt x="120846" y="200937"/>
                  </a:lnTo>
                  <a:lnTo>
                    <a:pt x="122799" y="201825"/>
                  </a:lnTo>
                  <a:lnTo>
                    <a:pt x="124753" y="202802"/>
                  </a:lnTo>
                  <a:lnTo>
                    <a:pt x="126618" y="203867"/>
                  </a:lnTo>
                  <a:lnTo>
                    <a:pt x="128482" y="204844"/>
                  </a:lnTo>
                  <a:lnTo>
                    <a:pt x="130347" y="205998"/>
                  </a:lnTo>
                  <a:lnTo>
                    <a:pt x="132123" y="207153"/>
                  </a:lnTo>
                  <a:lnTo>
                    <a:pt x="133898" y="208307"/>
                  </a:lnTo>
                  <a:lnTo>
                    <a:pt x="135586" y="209550"/>
                  </a:lnTo>
                  <a:lnTo>
                    <a:pt x="138871" y="207597"/>
                  </a:lnTo>
                  <a:lnTo>
                    <a:pt x="142422" y="205732"/>
                  </a:lnTo>
                  <a:lnTo>
                    <a:pt x="146241" y="203956"/>
                  </a:lnTo>
                  <a:lnTo>
                    <a:pt x="150236" y="202269"/>
                  </a:lnTo>
                  <a:lnTo>
                    <a:pt x="154498" y="200671"/>
                  </a:lnTo>
                  <a:lnTo>
                    <a:pt x="158849" y="199073"/>
                  </a:lnTo>
                  <a:lnTo>
                    <a:pt x="163289" y="197652"/>
                  </a:lnTo>
                  <a:lnTo>
                    <a:pt x="167906" y="196409"/>
                  </a:lnTo>
                  <a:lnTo>
                    <a:pt x="172523" y="195166"/>
                  </a:lnTo>
                  <a:lnTo>
                    <a:pt x="177140" y="194189"/>
                  </a:lnTo>
                  <a:lnTo>
                    <a:pt x="181757" y="193212"/>
                  </a:lnTo>
                  <a:lnTo>
                    <a:pt x="186286" y="192502"/>
                  </a:lnTo>
                  <a:lnTo>
                    <a:pt x="190814" y="191880"/>
                  </a:lnTo>
                  <a:lnTo>
                    <a:pt x="195165" y="191436"/>
                  </a:lnTo>
                  <a:lnTo>
                    <a:pt x="199338" y="191170"/>
                  </a:lnTo>
                  <a:lnTo>
                    <a:pt x="203423" y="191081"/>
                  </a:lnTo>
                  <a:lnTo>
                    <a:pt x="207241" y="191081"/>
                  </a:lnTo>
                  <a:lnTo>
                    <a:pt x="211059" y="191259"/>
                  </a:lnTo>
                  <a:lnTo>
                    <a:pt x="214877" y="191436"/>
                  </a:lnTo>
                  <a:lnTo>
                    <a:pt x="218695" y="191792"/>
                  </a:lnTo>
                  <a:lnTo>
                    <a:pt x="222513" y="192235"/>
                  </a:lnTo>
                  <a:lnTo>
                    <a:pt x="226331" y="192768"/>
                  </a:lnTo>
                  <a:lnTo>
                    <a:pt x="230060" y="193390"/>
                  </a:lnTo>
                  <a:lnTo>
                    <a:pt x="233790" y="194100"/>
                  </a:lnTo>
                  <a:lnTo>
                    <a:pt x="237519" y="194899"/>
                  </a:lnTo>
                  <a:lnTo>
                    <a:pt x="241159" y="195876"/>
                  </a:lnTo>
                  <a:lnTo>
                    <a:pt x="244800" y="196941"/>
                  </a:lnTo>
                  <a:lnTo>
                    <a:pt x="248351" y="198096"/>
                  </a:lnTo>
                  <a:lnTo>
                    <a:pt x="251903" y="199428"/>
                  </a:lnTo>
                  <a:lnTo>
                    <a:pt x="255277" y="200848"/>
                  </a:lnTo>
                  <a:lnTo>
                    <a:pt x="258651" y="202358"/>
                  </a:lnTo>
                  <a:lnTo>
                    <a:pt x="261937" y="204045"/>
                  </a:lnTo>
                  <a:lnTo>
                    <a:pt x="262736" y="204400"/>
                  </a:lnTo>
                  <a:lnTo>
                    <a:pt x="263446" y="204578"/>
                  </a:lnTo>
                  <a:lnTo>
                    <a:pt x="264156" y="204666"/>
                  </a:lnTo>
                  <a:lnTo>
                    <a:pt x="265044" y="204666"/>
                  </a:lnTo>
                  <a:lnTo>
                    <a:pt x="265577" y="204578"/>
                  </a:lnTo>
                  <a:lnTo>
                    <a:pt x="266199" y="204489"/>
                  </a:lnTo>
                  <a:lnTo>
                    <a:pt x="266731" y="204311"/>
                  </a:lnTo>
                  <a:lnTo>
                    <a:pt x="267264" y="204134"/>
                  </a:lnTo>
                  <a:lnTo>
                    <a:pt x="267797" y="203867"/>
                  </a:lnTo>
                  <a:lnTo>
                    <a:pt x="268330" y="203512"/>
                  </a:lnTo>
                  <a:lnTo>
                    <a:pt x="269306" y="202713"/>
                  </a:lnTo>
                  <a:lnTo>
                    <a:pt x="270017" y="201736"/>
                  </a:lnTo>
                  <a:lnTo>
                    <a:pt x="270372" y="201292"/>
                  </a:lnTo>
                  <a:lnTo>
                    <a:pt x="270638" y="200760"/>
                  </a:lnTo>
                  <a:lnTo>
                    <a:pt x="270905" y="200138"/>
                  </a:lnTo>
                  <a:lnTo>
                    <a:pt x="271082" y="199605"/>
                  </a:lnTo>
                  <a:lnTo>
                    <a:pt x="271171" y="199073"/>
                  </a:lnTo>
                  <a:lnTo>
                    <a:pt x="271171" y="198451"/>
                  </a:lnTo>
                  <a:lnTo>
                    <a:pt x="271171" y="18469"/>
                  </a:lnTo>
                  <a:lnTo>
                    <a:pt x="268418" y="16515"/>
                  </a:lnTo>
                  <a:lnTo>
                    <a:pt x="265488" y="14651"/>
                  </a:lnTo>
                  <a:lnTo>
                    <a:pt x="262558" y="12964"/>
                  </a:lnTo>
                  <a:lnTo>
                    <a:pt x="259539" y="11365"/>
                  </a:lnTo>
                  <a:lnTo>
                    <a:pt x="256432" y="9945"/>
                  </a:lnTo>
                  <a:lnTo>
                    <a:pt x="253235" y="8613"/>
                  </a:lnTo>
                  <a:lnTo>
                    <a:pt x="249950" y="7370"/>
                  </a:lnTo>
                  <a:lnTo>
                    <a:pt x="246576" y="6127"/>
                  </a:lnTo>
                  <a:lnTo>
                    <a:pt x="243912" y="5328"/>
                  </a:lnTo>
                  <a:lnTo>
                    <a:pt x="241337" y="4617"/>
                  </a:lnTo>
                  <a:lnTo>
                    <a:pt x="238673" y="3996"/>
                  </a:lnTo>
                  <a:lnTo>
                    <a:pt x="236009" y="3374"/>
                  </a:lnTo>
                  <a:lnTo>
                    <a:pt x="233346" y="2841"/>
                  </a:lnTo>
                  <a:lnTo>
                    <a:pt x="230682" y="2309"/>
                  </a:lnTo>
                  <a:lnTo>
                    <a:pt x="225266" y="1421"/>
                  </a:lnTo>
                  <a:lnTo>
                    <a:pt x="219760" y="799"/>
                  </a:lnTo>
                  <a:lnTo>
                    <a:pt x="214255" y="355"/>
                  </a:lnTo>
                  <a:lnTo>
                    <a:pt x="208839" y="89"/>
                  </a:lnTo>
                  <a:lnTo>
                    <a:pt x="203423" y="0"/>
                  </a:lnTo>
                  <a:lnTo>
                    <a:pt x="198894" y="89"/>
                  </a:lnTo>
                  <a:lnTo>
                    <a:pt x="194277" y="266"/>
                  </a:lnTo>
                  <a:lnTo>
                    <a:pt x="189749" y="533"/>
                  </a:lnTo>
                  <a:lnTo>
                    <a:pt x="185131" y="977"/>
                  </a:lnTo>
                  <a:lnTo>
                    <a:pt x="180603" y="1509"/>
                  </a:lnTo>
                  <a:lnTo>
                    <a:pt x="176075" y="2220"/>
                  </a:lnTo>
                  <a:lnTo>
                    <a:pt x="171635" y="3108"/>
                  </a:lnTo>
                  <a:lnTo>
                    <a:pt x="167195" y="4173"/>
                  </a:lnTo>
                  <a:lnTo>
                    <a:pt x="162845" y="5328"/>
                  </a:lnTo>
                  <a:lnTo>
                    <a:pt x="158583" y="6659"/>
                  </a:lnTo>
                  <a:lnTo>
                    <a:pt x="154409" y="8169"/>
                  </a:lnTo>
                  <a:lnTo>
                    <a:pt x="152367" y="8968"/>
                  </a:lnTo>
                  <a:lnTo>
                    <a:pt x="150325" y="9856"/>
                  </a:lnTo>
                  <a:lnTo>
                    <a:pt x="148372" y="10744"/>
                  </a:lnTo>
                  <a:lnTo>
                    <a:pt x="146418" y="11721"/>
                  </a:lnTo>
                  <a:lnTo>
                    <a:pt x="144554" y="12697"/>
                  </a:lnTo>
                  <a:lnTo>
                    <a:pt x="142689" y="13763"/>
                  </a:lnTo>
                  <a:lnTo>
                    <a:pt x="140824" y="14917"/>
                  </a:lnTo>
                  <a:lnTo>
                    <a:pt x="139048" y="16071"/>
                  </a:lnTo>
                  <a:lnTo>
                    <a:pt x="137273" y="17226"/>
                  </a:lnTo>
                  <a:lnTo>
                    <a:pt x="135586" y="18469"/>
                  </a:lnTo>
                  <a:lnTo>
                    <a:pt x="133898" y="17226"/>
                  </a:lnTo>
                  <a:lnTo>
                    <a:pt x="132123" y="16071"/>
                  </a:lnTo>
                  <a:lnTo>
                    <a:pt x="130347" y="14917"/>
                  </a:lnTo>
                  <a:lnTo>
                    <a:pt x="128482" y="13763"/>
                  </a:lnTo>
                  <a:lnTo>
                    <a:pt x="126618" y="12697"/>
                  </a:lnTo>
                  <a:lnTo>
                    <a:pt x="124753" y="11721"/>
                  </a:lnTo>
                  <a:lnTo>
                    <a:pt x="122799" y="10744"/>
                  </a:lnTo>
                  <a:lnTo>
                    <a:pt x="120846" y="9856"/>
                  </a:lnTo>
                  <a:lnTo>
                    <a:pt x="118804" y="8968"/>
                  </a:lnTo>
                  <a:lnTo>
                    <a:pt x="116762" y="8169"/>
                  </a:lnTo>
                  <a:lnTo>
                    <a:pt x="112588" y="6659"/>
                  </a:lnTo>
                  <a:lnTo>
                    <a:pt x="108326" y="5328"/>
                  </a:lnTo>
                  <a:lnTo>
                    <a:pt x="103976" y="4173"/>
                  </a:lnTo>
                  <a:lnTo>
                    <a:pt x="99536" y="3108"/>
                  </a:lnTo>
                  <a:lnTo>
                    <a:pt x="95096" y="2220"/>
                  </a:lnTo>
                  <a:lnTo>
                    <a:pt x="90568" y="1509"/>
                  </a:lnTo>
                  <a:lnTo>
                    <a:pt x="86040" y="977"/>
                  </a:lnTo>
                  <a:lnTo>
                    <a:pt x="81422" y="533"/>
                  </a:lnTo>
                  <a:lnTo>
                    <a:pt x="76894" y="266"/>
                  </a:lnTo>
                  <a:lnTo>
                    <a:pt x="72277" y="89"/>
                  </a:lnTo>
                  <a:lnTo>
                    <a:pt x="6774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62"/>
            <p:cNvSpPr/>
            <p:nvPr/>
          </p:nvSpPr>
          <p:spPr>
            <a:xfrm>
              <a:off x="4118525" y="1625500"/>
              <a:ext cx="2157675" cy="765850"/>
            </a:xfrm>
            <a:custGeom>
              <a:avLst/>
              <a:gdLst/>
              <a:ahLst/>
              <a:cxnLst/>
              <a:rect l="l" t="t" r="r" b="b"/>
              <a:pathLst>
                <a:path w="86307" h="30634" extrusionOk="0">
                  <a:moveTo>
                    <a:pt x="51589" y="0"/>
                  </a:moveTo>
                  <a:lnTo>
                    <a:pt x="47682" y="178"/>
                  </a:lnTo>
                  <a:lnTo>
                    <a:pt x="43864" y="355"/>
                  </a:lnTo>
                  <a:lnTo>
                    <a:pt x="40135" y="622"/>
                  </a:lnTo>
                  <a:lnTo>
                    <a:pt x="36405" y="977"/>
                  </a:lnTo>
                  <a:lnTo>
                    <a:pt x="32765" y="1421"/>
                  </a:lnTo>
                  <a:lnTo>
                    <a:pt x="29213" y="1954"/>
                  </a:lnTo>
                  <a:lnTo>
                    <a:pt x="25662" y="2575"/>
                  </a:lnTo>
                  <a:lnTo>
                    <a:pt x="22199" y="3286"/>
                  </a:lnTo>
                  <a:lnTo>
                    <a:pt x="18825" y="3996"/>
                  </a:lnTo>
                  <a:lnTo>
                    <a:pt x="15539" y="4884"/>
                  </a:lnTo>
                  <a:lnTo>
                    <a:pt x="12254" y="5772"/>
                  </a:lnTo>
                  <a:lnTo>
                    <a:pt x="9057" y="6748"/>
                  </a:lnTo>
                  <a:lnTo>
                    <a:pt x="5950" y="7814"/>
                  </a:lnTo>
                  <a:lnTo>
                    <a:pt x="2931" y="8968"/>
                  </a:lnTo>
                  <a:lnTo>
                    <a:pt x="1" y="10211"/>
                  </a:lnTo>
                  <a:lnTo>
                    <a:pt x="1" y="30634"/>
                  </a:lnTo>
                  <a:lnTo>
                    <a:pt x="2664" y="29213"/>
                  </a:lnTo>
                  <a:lnTo>
                    <a:pt x="5417" y="27881"/>
                  </a:lnTo>
                  <a:lnTo>
                    <a:pt x="8347" y="26638"/>
                  </a:lnTo>
                  <a:lnTo>
                    <a:pt x="11455" y="25395"/>
                  </a:lnTo>
                  <a:lnTo>
                    <a:pt x="14563" y="24329"/>
                  </a:lnTo>
                  <a:lnTo>
                    <a:pt x="17848" y="23353"/>
                  </a:lnTo>
                  <a:lnTo>
                    <a:pt x="21133" y="22465"/>
                  </a:lnTo>
                  <a:lnTo>
                    <a:pt x="24596" y="21577"/>
                  </a:lnTo>
                  <a:lnTo>
                    <a:pt x="28148" y="20866"/>
                  </a:lnTo>
                  <a:lnTo>
                    <a:pt x="31788" y="20245"/>
                  </a:lnTo>
                  <a:lnTo>
                    <a:pt x="35606" y="19712"/>
                  </a:lnTo>
                  <a:lnTo>
                    <a:pt x="39424" y="19268"/>
                  </a:lnTo>
                  <a:lnTo>
                    <a:pt x="43331" y="18913"/>
                  </a:lnTo>
                  <a:lnTo>
                    <a:pt x="47238" y="18647"/>
                  </a:lnTo>
                  <a:lnTo>
                    <a:pt x="51322" y="18469"/>
                  </a:lnTo>
                  <a:lnTo>
                    <a:pt x="59491" y="18469"/>
                  </a:lnTo>
                  <a:lnTo>
                    <a:pt x="63487" y="18647"/>
                  </a:lnTo>
                  <a:lnTo>
                    <a:pt x="67483" y="18913"/>
                  </a:lnTo>
                  <a:lnTo>
                    <a:pt x="71389" y="19268"/>
                  </a:lnTo>
                  <a:lnTo>
                    <a:pt x="75207" y="19712"/>
                  </a:lnTo>
                  <a:lnTo>
                    <a:pt x="79026" y="20245"/>
                  </a:lnTo>
                  <a:lnTo>
                    <a:pt x="82666" y="20955"/>
                  </a:lnTo>
                  <a:lnTo>
                    <a:pt x="86307" y="21666"/>
                  </a:lnTo>
                  <a:lnTo>
                    <a:pt x="86307" y="2930"/>
                  </a:lnTo>
                  <a:lnTo>
                    <a:pt x="82577" y="2309"/>
                  </a:lnTo>
                  <a:lnTo>
                    <a:pt x="78848" y="1687"/>
                  </a:lnTo>
                  <a:lnTo>
                    <a:pt x="75030" y="1155"/>
                  </a:lnTo>
                  <a:lnTo>
                    <a:pt x="71212" y="711"/>
                  </a:lnTo>
                  <a:lnTo>
                    <a:pt x="67305" y="444"/>
                  </a:lnTo>
                  <a:lnTo>
                    <a:pt x="63398" y="178"/>
                  </a:lnTo>
                  <a:lnTo>
                    <a:pt x="594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62"/>
            <p:cNvSpPr/>
            <p:nvPr/>
          </p:nvSpPr>
          <p:spPr>
            <a:xfrm>
              <a:off x="4118525" y="2444600"/>
              <a:ext cx="2157675" cy="768075"/>
            </a:xfrm>
            <a:custGeom>
              <a:avLst/>
              <a:gdLst/>
              <a:ahLst/>
              <a:cxnLst/>
              <a:rect l="l" t="t" r="r" b="b"/>
              <a:pathLst>
                <a:path w="86307" h="30723" extrusionOk="0">
                  <a:moveTo>
                    <a:pt x="51589" y="1"/>
                  </a:moveTo>
                  <a:lnTo>
                    <a:pt x="47682" y="178"/>
                  </a:lnTo>
                  <a:lnTo>
                    <a:pt x="43864" y="356"/>
                  </a:lnTo>
                  <a:lnTo>
                    <a:pt x="40135" y="711"/>
                  </a:lnTo>
                  <a:lnTo>
                    <a:pt x="36405" y="1066"/>
                  </a:lnTo>
                  <a:lnTo>
                    <a:pt x="32765" y="1510"/>
                  </a:lnTo>
                  <a:lnTo>
                    <a:pt x="29213" y="2043"/>
                  </a:lnTo>
                  <a:lnTo>
                    <a:pt x="25662" y="2664"/>
                  </a:lnTo>
                  <a:lnTo>
                    <a:pt x="22199" y="3375"/>
                  </a:lnTo>
                  <a:lnTo>
                    <a:pt x="18825" y="4085"/>
                  </a:lnTo>
                  <a:lnTo>
                    <a:pt x="15539" y="4973"/>
                  </a:lnTo>
                  <a:lnTo>
                    <a:pt x="12254" y="5861"/>
                  </a:lnTo>
                  <a:lnTo>
                    <a:pt x="9057" y="6838"/>
                  </a:lnTo>
                  <a:lnTo>
                    <a:pt x="5950" y="7903"/>
                  </a:lnTo>
                  <a:lnTo>
                    <a:pt x="2931" y="9057"/>
                  </a:lnTo>
                  <a:lnTo>
                    <a:pt x="1" y="10212"/>
                  </a:lnTo>
                  <a:lnTo>
                    <a:pt x="1" y="30723"/>
                  </a:lnTo>
                  <a:lnTo>
                    <a:pt x="2664" y="29213"/>
                  </a:lnTo>
                  <a:lnTo>
                    <a:pt x="5417" y="27881"/>
                  </a:lnTo>
                  <a:lnTo>
                    <a:pt x="8347" y="26638"/>
                  </a:lnTo>
                  <a:lnTo>
                    <a:pt x="11455" y="25484"/>
                  </a:lnTo>
                  <a:lnTo>
                    <a:pt x="14563" y="24330"/>
                  </a:lnTo>
                  <a:lnTo>
                    <a:pt x="17848" y="23353"/>
                  </a:lnTo>
                  <a:lnTo>
                    <a:pt x="21133" y="22465"/>
                  </a:lnTo>
                  <a:lnTo>
                    <a:pt x="24596" y="21666"/>
                  </a:lnTo>
                  <a:lnTo>
                    <a:pt x="28148" y="20867"/>
                  </a:lnTo>
                  <a:lnTo>
                    <a:pt x="31788" y="20245"/>
                  </a:lnTo>
                  <a:lnTo>
                    <a:pt x="35606" y="19713"/>
                  </a:lnTo>
                  <a:lnTo>
                    <a:pt x="39424" y="19269"/>
                  </a:lnTo>
                  <a:lnTo>
                    <a:pt x="43331" y="18913"/>
                  </a:lnTo>
                  <a:lnTo>
                    <a:pt x="47238" y="18647"/>
                  </a:lnTo>
                  <a:lnTo>
                    <a:pt x="51322" y="18558"/>
                  </a:lnTo>
                  <a:lnTo>
                    <a:pt x="55496" y="18469"/>
                  </a:lnTo>
                  <a:lnTo>
                    <a:pt x="59491" y="18558"/>
                  </a:lnTo>
                  <a:lnTo>
                    <a:pt x="63487" y="18736"/>
                  </a:lnTo>
                  <a:lnTo>
                    <a:pt x="67483" y="18913"/>
                  </a:lnTo>
                  <a:lnTo>
                    <a:pt x="71389" y="19269"/>
                  </a:lnTo>
                  <a:lnTo>
                    <a:pt x="75207" y="19801"/>
                  </a:lnTo>
                  <a:lnTo>
                    <a:pt x="79026" y="20334"/>
                  </a:lnTo>
                  <a:lnTo>
                    <a:pt x="82666" y="20956"/>
                  </a:lnTo>
                  <a:lnTo>
                    <a:pt x="86307" y="21666"/>
                  </a:lnTo>
                  <a:lnTo>
                    <a:pt x="86307" y="2931"/>
                  </a:lnTo>
                  <a:lnTo>
                    <a:pt x="82577" y="2309"/>
                  </a:lnTo>
                  <a:lnTo>
                    <a:pt x="78848" y="1688"/>
                  </a:lnTo>
                  <a:lnTo>
                    <a:pt x="75030" y="1244"/>
                  </a:lnTo>
                  <a:lnTo>
                    <a:pt x="71212" y="800"/>
                  </a:lnTo>
                  <a:lnTo>
                    <a:pt x="67305" y="445"/>
                  </a:lnTo>
                  <a:lnTo>
                    <a:pt x="63398" y="178"/>
                  </a:lnTo>
                  <a:lnTo>
                    <a:pt x="59403" y="89"/>
                  </a:lnTo>
                  <a:lnTo>
                    <a:pt x="554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62"/>
            <p:cNvSpPr/>
            <p:nvPr/>
          </p:nvSpPr>
          <p:spPr>
            <a:xfrm>
              <a:off x="4118525" y="3268150"/>
              <a:ext cx="2157675" cy="765850"/>
            </a:xfrm>
            <a:custGeom>
              <a:avLst/>
              <a:gdLst/>
              <a:ahLst/>
              <a:cxnLst/>
              <a:rect l="l" t="t" r="r" b="b"/>
              <a:pathLst>
                <a:path w="86307" h="30634" extrusionOk="0">
                  <a:moveTo>
                    <a:pt x="51589" y="1"/>
                  </a:moveTo>
                  <a:lnTo>
                    <a:pt x="47682" y="178"/>
                  </a:lnTo>
                  <a:lnTo>
                    <a:pt x="43864" y="356"/>
                  </a:lnTo>
                  <a:lnTo>
                    <a:pt x="40135" y="622"/>
                  </a:lnTo>
                  <a:lnTo>
                    <a:pt x="36405" y="977"/>
                  </a:lnTo>
                  <a:lnTo>
                    <a:pt x="32765" y="1421"/>
                  </a:lnTo>
                  <a:lnTo>
                    <a:pt x="29213" y="1954"/>
                  </a:lnTo>
                  <a:lnTo>
                    <a:pt x="25662" y="2576"/>
                  </a:lnTo>
                  <a:lnTo>
                    <a:pt x="22199" y="3286"/>
                  </a:lnTo>
                  <a:lnTo>
                    <a:pt x="18825" y="3996"/>
                  </a:lnTo>
                  <a:lnTo>
                    <a:pt x="15539" y="4884"/>
                  </a:lnTo>
                  <a:lnTo>
                    <a:pt x="12254" y="5772"/>
                  </a:lnTo>
                  <a:lnTo>
                    <a:pt x="9057" y="6749"/>
                  </a:lnTo>
                  <a:lnTo>
                    <a:pt x="5950" y="7814"/>
                  </a:lnTo>
                  <a:lnTo>
                    <a:pt x="2931" y="8969"/>
                  </a:lnTo>
                  <a:lnTo>
                    <a:pt x="1" y="10212"/>
                  </a:lnTo>
                  <a:lnTo>
                    <a:pt x="1" y="30634"/>
                  </a:lnTo>
                  <a:lnTo>
                    <a:pt x="2664" y="29213"/>
                  </a:lnTo>
                  <a:lnTo>
                    <a:pt x="5417" y="27881"/>
                  </a:lnTo>
                  <a:lnTo>
                    <a:pt x="8347" y="26638"/>
                  </a:lnTo>
                  <a:lnTo>
                    <a:pt x="11455" y="25395"/>
                  </a:lnTo>
                  <a:lnTo>
                    <a:pt x="14563" y="24330"/>
                  </a:lnTo>
                  <a:lnTo>
                    <a:pt x="17848" y="23353"/>
                  </a:lnTo>
                  <a:lnTo>
                    <a:pt x="21133" y="22465"/>
                  </a:lnTo>
                  <a:lnTo>
                    <a:pt x="24596" y="21577"/>
                  </a:lnTo>
                  <a:lnTo>
                    <a:pt x="28148" y="20867"/>
                  </a:lnTo>
                  <a:lnTo>
                    <a:pt x="31788" y="20245"/>
                  </a:lnTo>
                  <a:lnTo>
                    <a:pt x="35606" y="19713"/>
                  </a:lnTo>
                  <a:lnTo>
                    <a:pt x="39424" y="19269"/>
                  </a:lnTo>
                  <a:lnTo>
                    <a:pt x="43331" y="18913"/>
                  </a:lnTo>
                  <a:lnTo>
                    <a:pt x="47238" y="18647"/>
                  </a:lnTo>
                  <a:lnTo>
                    <a:pt x="51322" y="18469"/>
                  </a:lnTo>
                  <a:lnTo>
                    <a:pt x="55496" y="18469"/>
                  </a:lnTo>
                  <a:lnTo>
                    <a:pt x="59491" y="18558"/>
                  </a:lnTo>
                  <a:lnTo>
                    <a:pt x="63487" y="18647"/>
                  </a:lnTo>
                  <a:lnTo>
                    <a:pt x="67483" y="18913"/>
                  </a:lnTo>
                  <a:lnTo>
                    <a:pt x="71389" y="19269"/>
                  </a:lnTo>
                  <a:lnTo>
                    <a:pt x="75207" y="19713"/>
                  </a:lnTo>
                  <a:lnTo>
                    <a:pt x="79026" y="20245"/>
                  </a:lnTo>
                  <a:lnTo>
                    <a:pt x="82666" y="20956"/>
                  </a:lnTo>
                  <a:lnTo>
                    <a:pt x="86307" y="21666"/>
                  </a:lnTo>
                  <a:lnTo>
                    <a:pt x="86307" y="2931"/>
                  </a:lnTo>
                  <a:lnTo>
                    <a:pt x="82577" y="2220"/>
                  </a:lnTo>
                  <a:lnTo>
                    <a:pt x="78848" y="1599"/>
                  </a:lnTo>
                  <a:lnTo>
                    <a:pt x="75030" y="1155"/>
                  </a:lnTo>
                  <a:lnTo>
                    <a:pt x="71212" y="711"/>
                  </a:lnTo>
                  <a:lnTo>
                    <a:pt x="67305" y="356"/>
                  </a:lnTo>
                  <a:lnTo>
                    <a:pt x="63398" y="178"/>
                  </a:lnTo>
                  <a:lnTo>
                    <a:pt x="594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3"/>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Next steps</a:t>
            </a:r>
            <a:endParaRPr sz="2400">
              <a:solidFill>
                <a:srgbClr val="5F6368"/>
              </a:solidFill>
              <a:latin typeface="Open Sans"/>
              <a:ea typeface="Open Sans"/>
              <a:cs typeface="Open Sans"/>
              <a:sym typeface="Open Sans"/>
            </a:endParaRPr>
          </a:p>
        </p:txBody>
      </p:sp>
      <p:sp>
        <p:nvSpPr>
          <p:cNvPr id="404" name="Google Shape;404;p63"/>
          <p:cNvSpPr/>
          <p:nvPr/>
        </p:nvSpPr>
        <p:spPr>
          <a:xfrm>
            <a:off x="5176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63"/>
          <p:cNvSpPr txBox="1"/>
          <p:nvPr/>
        </p:nvSpPr>
        <p:spPr>
          <a:xfrm>
            <a:off x="711324" y="1917800"/>
            <a:ext cx="2079583" cy="1423436"/>
          </a:xfrm>
          <a:prstGeom prst="rect">
            <a:avLst/>
          </a:prstGeom>
          <a:noFill/>
          <a:ln>
            <a:noFill/>
          </a:ln>
        </p:spPr>
        <p:txBody>
          <a:bodyPr spcFirstLastPara="1" wrap="square" lIns="91425" tIns="91425" rIns="91425" bIns="91425" anchor="t" anchorCtr="0">
            <a:spAutoFit/>
          </a:bodyPr>
          <a:lstStyle/>
          <a:p>
            <a:pPr lvl="0" algn="ctr">
              <a:lnSpc>
                <a:spcPct val="115000"/>
              </a:lnSpc>
              <a:buClr>
                <a:schemeClr val="dk1"/>
              </a:buClr>
              <a:buSzPts val="1100"/>
            </a:pPr>
            <a:r>
              <a:rPr lang="en-US" dirty="0"/>
              <a:t>Add AI-based item matching to automatically suggest similar lost and found items</a:t>
            </a:r>
            <a:r>
              <a:rPr lang="en" dirty="0">
                <a:solidFill>
                  <a:srgbClr val="5F6368"/>
                </a:solidFill>
                <a:latin typeface="Open Sans"/>
                <a:ea typeface="Open Sans"/>
                <a:cs typeface="Open Sans"/>
                <a:sym typeface="Open Sans"/>
              </a:rPr>
              <a:t>.</a:t>
            </a:r>
            <a:endParaRPr dirty="0"/>
          </a:p>
        </p:txBody>
      </p:sp>
      <p:sp>
        <p:nvSpPr>
          <p:cNvPr id="406" name="Google Shape;406;p63"/>
          <p:cNvSpPr/>
          <p:nvPr/>
        </p:nvSpPr>
        <p:spPr>
          <a:xfrm>
            <a:off x="31752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63"/>
          <p:cNvSpPr txBox="1"/>
          <p:nvPr/>
        </p:nvSpPr>
        <p:spPr>
          <a:xfrm>
            <a:off x="3368925" y="1917800"/>
            <a:ext cx="2049000" cy="1423436"/>
          </a:xfrm>
          <a:prstGeom prst="rect">
            <a:avLst/>
          </a:prstGeom>
          <a:noFill/>
          <a:ln>
            <a:noFill/>
          </a:ln>
        </p:spPr>
        <p:txBody>
          <a:bodyPr spcFirstLastPara="1" wrap="square" lIns="91425" tIns="91425" rIns="91425" bIns="91425" anchor="t" anchorCtr="0">
            <a:spAutoFit/>
          </a:bodyPr>
          <a:lstStyle/>
          <a:p>
            <a:pPr lvl="0" algn="ctr">
              <a:lnSpc>
                <a:spcPct val="115000"/>
              </a:lnSpc>
            </a:pPr>
            <a:r>
              <a:rPr lang="en-US" dirty="0"/>
              <a:t>Implement email and SMS notifications to keep users updated about item status and verification.</a:t>
            </a:r>
            <a:endParaRPr dirty="0"/>
          </a:p>
        </p:txBody>
      </p:sp>
      <p:sp>
        <p:nvSpPr>
          <p:cNvPr id="408" name="Google Shape;408;p63"/>
          <p:cNvSpPr/>
          <p:nvPr/>
        </p:nvSpPr>
        <p:spPr>
          <a:xfrm>
            <a:off x="5832875" y="1472325"/>
            <a:ext cx="2436300" cy="31743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 name="Google Shape;409;p63"/>
          <p:cNvSpPr txBox="1"/>
          <p:nvPr/>
        </p:nvSpPr>
        <p:spPr>
          <a:xfrm>
            <a:off x="6026525" y="1917800"/>
            <a:ext cx="2049000" cy="1423436"/>
          </a:xfrm>
          <a:prstGeom prst="rect">
            <a:avLst/>
          </a:prstGeom>
          <a:noFill/>
          <a:ln>
            <a:noFill/>
          </a:ln>
        </p:spPr>
        <p:txBody>
          <a:bodyPr spcFirstLastPara="1" wrap="square" lIns="91425" tIns="91425" rIns="91425" bIns="91425" anchor="t" anchorCtr="0">
            <a:spAutoFit/>
          </a:bodyPr>
          <a:lstStyle/>
          <a:p>
            <a:pPr lvl="0" algn="ctr">
              <a:lnSpc>
                <a:spcPct val="115000"/>
              </a:lnSpc>
            </a:pPr>
            <a:r>
              <a:rPr lang="en-US" dirty="0"/>
              <a:t>Introduce a feedback and rating system for verified claims to improve trust and transparency.</a:t>
            </a:r>
            <a:endParaRPr dirty="0"/>
          </a:p>
        </p:txBody>
      </p:sp>
      <p:sp>
        <p:nvSpPr>
          <p:cNvPr id="410" name="Google Shape;410;p63"/>
          <p:cNvSpPr/>
          <p:nvPr/>
        </p:nvSpPr>
        <p:spPr>
          <a:xfrm>
            <a:off x="1479175" y="1187633"/>
            <a:ext cx="513300" cy="513300"/>
          </a:xfrm>
          <a:prstGeom prst="ellipse">
            <a:avLst/>
          </a:prstGeom>
          <a:solidFill>
            <a:srgbClr val="5F6368"/>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1</a:t>
            </a:r>
            <a:endParaRPr sz="2200">
              <a:solidFill>
                <a:srgbClr val="FFFFFF"/>
              </a:solidFill>
              <a:latin typeface="Google Sans Medium"/>
              <a:ea typeface="Google Sans Medium"/>
              <a:cs typeface="Google Sans Medium"/>
              <a:sym typeface="Google Sans Medium"/>
            </a:endParaRPr>
          </a:p>
        </p:txBody>
      </p:sp>
      <p:sp>
        <p:nvSpPr>
          <p:cNvPr id="411" name="Google Shape;411;p63"/>
          <p:cNvSpPr/>
          <p:nvPr/>
        </p:nvSpPr>
        <p:spPr>
          <a:xfrm>
            <a:off x="4136775" y="1187633"/>
            <a:ext cx="513300" cy="513300"/>
          </a:xfrm>
          <a:prstGeom prst="ellipse">
            <a:avLst/>
          </a:prstGeom>
          <a:solidFill>
            <a:srgbClr val="5F6368"/>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2</a:t>
            </a:r>
            <a:endParaRPr sz="2200">
              <a:solidFill>
                <a:srgbClr val="FFFFFF"/>
              </a:solidFill>
              <a:latin typeface="Google Sans Medium"/>
              <a:ea typeface="Google Sans Medium"/>
              <a:cs typeface="Google Sans Medium"/>
              <a:sym typeface="Google Sans Medium"/>
            </a:endParaRPr>
          </a:p>
        </p:txBody>
      </p:sp>
      <p:sp>
        <p:nvSpPr>
          <p:cNvPr id="412" name="Google Shape;412;p63"/>
          <p:cNvSpPr/>
          <p:nvPr/>
        </p:nvSpPr>
        <p:spPr>
          <a:xfrm>
            <a:off x="6794375" y="1187633"/>
            <a:ext cx="513300" cy="513300"/>
          </a:xfrm>
          <a:prstGeom prst="ellipse">
            <a:avLst/>
          </a:prstGeom>
          <a:solidFill>
            <a:srgbClr val="5F6368"/>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2200">
                <a:solidFill>
                  <a:srgbClr val="FFFFFF"/>
                </a:solidFill>
                <a:latin typeface="Google Sans Medium"/>
                <a:ea typeface="Google Sans Medium"/>
                <a:cs typeface="Google Sans Medium"/>
                <a:sym typeface="Google Sans Medium"/>
              </a:rPr>
              <a:t>3</a:t>
            </a:r>
            <a:endParaRPr sz="2200">
              <a:solidFill>
                <a:srgbClr val="FFFFFF"/>
              </a:solidFill>
              <a:latin typeface="Google Sans Medium"/>
              <a:ea typeface="Google Sans Medium"/>
              <a:cs typeface="Google Sans Medium"/>
              <a:sym typeface="Google Sans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64"/>
          <p:cNvSpPr txBox="1"/>
          <p:nvPr/>
        </p:nvSpPr>
        <p:spPr>
          <a:xfrm>
            <a:off x="517675" y="524338"/>
            <a:ext cx="4931100" cy="554100"/>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None/>
            </a:pPr>
            <a:r>
              <a:rPr lang="en" sz="2400">
                <a:solidFill>
                  <a:srgbClr val="5F6368"/>
                </a:solidFill>
                <a:latin typeface="Open Sans"/>
                <a:ea typeface="Open Sans"/>
                <a:cs typeface="Open Sans"/>
                <a:sym typeface="Open Sans"/>
              </a:rPr>
              <a:t>Let’s connect!</a:t>
            </a:r>
            <a:endParaRPr sz="2400">
              <a:solidFill>
                <a:srgbClr val="5F6368"/>
              </a:solidFill>
              <a:latin typeface="Open Sans"/>
              <a:ea typeface="Open Sans"/>
              <a:cs typeface="Open Sans"/>
              <a:sym typeface="Open Sans"/>
            </a:endParaRPr>
          </a:p>
        </p:txBody>
      </p:sp>
      <p:sp>
        <p:nvSpPr>
          <p:cNvPr id="418" name="Google Shape;418;p64"/>
          <p:cNvSpPr txBox="1"/>
          <p:nvPr/>
        </p:nvSpPr>
        <p:spPr>
          <a:xfrm>
            <a:off x="3064600" y="-1016100"/>
            <a:ext cx="65094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solidFill>
                  <a:srgbClr val="5F6368"/>
                </a:solidFill>
                <a:latin typeface="Open Sans"/>
                <a:ea typeface="Open Sans"/>
                <a:cs typeface="Open Sans"/>
                <a:sym typeface="Open Sans"/>
              </a:rPr>
              <a:t>Insert a few sentences summarizing the next steps you would take with this project and why. Feel free to organize next steps in a bullet point list. </a:t>
            </a:r>
            <a:endParaRPr>
              <a:solidFill>
                <a:srgbClr val="5F6368"/>
              </a:solidFill>
              <a:latin typeface="Open Sans"/>
              <a:ea typeface="Open Sans"/>
              <a:cs typeface="Open Sans"/>
              <a:sym typeface="Open Sans"/>
            </a:endParaRPr>
          </a:p>
        </p:txBody>
      </p:sp>
      <p:sp>
        <p:nvSpPr>
          <p:cNvPr id="419" name="Google Shape;419;p64"/>
          <p:cNvSpPr/>
          <p:nvPr/>
        </p:nvSpPr>
        <p:spPr>
          <a:xfrm>
            <a:off x="517675" y="1832019"/>
            <a:ext cx="7938900" cy="2510400"/>
          </a:xfrm>
          <a:prstGeom prst="rect">
            <a:avLst/>
          </a:prstGeom>
          <a:solidFill>
            <a:srgbClr val="F8F9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64"/>
          <p:cNvSpPr txBox="1"/>
          <p:nvPr/>
        </p:nvSpPr>
        <p:spPr>
          <a:xfrm>
            <a:off x="919075" y="2461800"/>
            <a:ext cx="7136100" cy="1069493"/>
          </a:xfrm>
          <a:prstGeom prst="rect">
            <a:avLst/>
          </a:prstGeom>
          <a:noFill/>
          <a:ln>
            <a:noFill/>
          </a:ln>
        </p:spPr>
        <p:txBody>
          <a:bodyPr spcFirstLastPara="1" wrap="square" lIns="0" tIns="91425" rIns="91425" bIns="91425" anchor="t" anchorCtr="0">
            <a:spAutoFit/>
          </a:bodyPr>
          <a:lstStyle/>
          <a:p>
            <a:pPr lvl="0" algn="ctr">
              <a:lnSpc>
                <a:spcPct val="115000"/>
              </a:lnSpc>
              <a:buClr>
                <a:schemeClr val="dk1"/>
              </a:buClr>
              <a:buSzPts val="1100"/>
            </a:pPr>
            <a:r>
              <a:rPr lang="en-US" sz="1200" dirty="0"/>
              <a:t>Thank you for reviewing our project portfolio. This project was developed as part of a team effort, and I am grateful for the opportunity to collaborate, learn, and contribute to building a user-focused solution</a:t>
            </a:r>
            <a:r>
              <a:rPr lang="en" sz="1200" dirty="0">
                <a:solidFill>
                  <a:srgbClr val="5F6368"/>
                </a:solidFill>
                <a:latin typeface="Open Sans"/>
                <a:ea typeface="Open Sans"/>
                <a:cs typeface="Open Sans"/>
                <a:sym typeface="Open Sans"/>
              </a:rPr>
              <a:t>. </a:t>
            </a:r>
            <a:endParaRPr sz="1200" dirty="0">
              <a:solidFill>
                <a:srgbClr val="5F6368"/>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endParaRPr sz="1200" dirty="0">
              <a:solidFill>
                <a:srgbClr val="5F6368"/>
              </a:solidFill>
              <a:latin typeface="Open Sans"/>
              <a:ea typeface="Open Sans"/>
              <a:cs typeface="Open Sans"/>
              <a:sym typeface="Open Sans"/>
            </a:endParaRPr>
          </a:p>
          <a:p>
            <a:pPr lvl="0" algn="ctr">
              <a:lnSpc>
                <a:spcPct val="115000"/>
              </a:lnSpc>
              <a:buClr>
                <a:schemeClr val="dk1"/>
              </a:buClr>
              <a:buSzPts val="1100"/>
            </a:pPr>
            <a:r>
              <a:rPr lang="en-US" sz="1200" dirty="0"/>
              <a:t>Email: salehat2047@gmail.com</a:t>
            </a:r>
            <a:endParaRPr sz="1200" b="1" dirty="0">
              <a:solidFill>
                <a:srgbClr val="1967D2"/>
              </a:solidFill>
              <a:latin typeface="Open Sans"/>
              <a:ea typeface="Open Sans"/>
              <a:cs typeface="Open Sans"/>
              <a:sym typeface="Open Sans"/>
            </a:endParaRPr>
          </a:p>
        </p:txBody>
      </p:sp>
      <p:sp>
        <p:nvSpPr>
          <p:cNvPr id="421" name="Google Shape;421;p64"/>
          <p:cNvSpPr/>
          <p:nvPr/>
        </p:nvSpPr>
        <p:spPr>
          <a:xfrm>
            <a:off x="4230475" y="1602212"/>
            <a:ext cx="513300" cy="513300"/>
          </a:xfrm>
          <a:prstGeom prst="ellipse">
            <a:avLst/>
          </a:prstGeom>
          <a:solidFill>
            <a:srgbClr val="5F63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4"/>
          <p:cNvSpPr/>
          <p:nvPr/>
        </p:nvSpPr>
        <p:spPr>
          <a:xfrm>
            <a:off x="4361825" y="1734124"/>
            <a:ext cx="250599" cy="249449"/>
          </a:xfrm>
          <a:custGeom>
            <a:avLst/>
            <a:gdLst/>
            <a:ahLst/>
            <a:cxnLst/>
            <a:rect l="l" t="t" r="r" b="b"/>
            <a:pathLst>
              <a:path w="964" h="962" extrusionOk="0">
                <a:moveTo>
                  <a:pt x="774" y="400"/>
                </a:moveTo>
                <a:lnTo>
                  <a:pt x="562" y="189"/>
                </a:lnTo>
                <a:lnTo>
                  <a:pt x="0" y="749"/>
                </a:lnTo>
                <a:lnTo>
                  <a:pt x="0" y="961"/>
                </a:lnTo>
                <a:lnTo>
                  <a:pt x="212" y="961"/>
                </a:lnTo>
                <a:lnTo>
                  <a:pt x="774" y="400"/>
                </a:lnTo>
                <a:close/>
                <a:moveTo>
                  <a:pt x="940" y="234"/>
                </a:moveTo>
                <a:cubicBezTo>
                  <a:pt x="963" y="211"/>
                  <a:pt x="963" y="177"/>
                  <a:pt x="940" y="155"/>
                </a:cubicBezTo>
                <a:lnTo>
                  <a:pt x="807" y="22"/>
                </a:lnTo>
                <a:cubicBezTo>
                  <a:pt x="785" y="0"/>
                  <a:pt x="751" y="0"/>
                  <a:pt x="728" y="22"/>
                </a:cubicBezTo>
                <a:lnTo>
                  <a:pt x="618" y="132"/>
                </a:lnTo>
                <a:lnTo>
                  <a:pt x="830" y="344"/>
                </a:lnTo>
                <a:lnTo>
                  <a:pt x="940" y="234"/>
                </a:ln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TotalTime>
  <Words>1072</Words>
  <Application>Microsoft Office PowerPoint</Application>
  <PresentationFormat>On-screen Show (16:9)</PresentationFormat>
  <Paragraphs>132</Paragraphs>
  <Slides>28</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Arial</vt:lpstr>
      <vt:lpstr>Open Sans</vt:lpstr>
      <vt:lpstr>Google Sans Medium</vt:lpstr>
      <vt:lpstr>Tahoma</vt:lpstr>
      <vt:lpstr>Calibri</vt:lpstr>
      <vt:lpstr>Open Sans SemiBold</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MAHAMSHOUKAT</cp:lastModifiedBy>
  <cp:revision>26</cp:revision>
  <dcterms:modified xsi:type="dcterms:W3CDTF">2026-05-22T04:36:12Z</dcterms:modified>
</cp:coreProperties>
</file>